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245FCD-88B0-4E78-A2AA-4D059F8CA8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8078F6-C9E5-438A-B680-6F44AFAF7E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0312D2-A836-47F8-8B13-87AB2A3DD1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9DB535-1121-48F1-AC48-54D195CFF0F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8755E9-3CD7-49C6-9B77-4E3CBF96ED6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804016-3C9D-4073-967C-21D4BB4F65E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9C94CC-D7D1-4843-993D-95642C223D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BED098-E3C6-4088-BCDF-42A4769BFB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7379C4-C784-46F8-A4A1-BE1808FEB9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485CDB-9554-4B70-B61B-63A71A98906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C8BEE9-51E1-4221-9AC6-4A3F689EC1B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459B6B-136C-47CE-B58A-D7C897CCF7F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B4F9E4E3-0ECC-4031-AA05-30F8617B7F45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324000" y="129600"/>
            <a:ext cx="115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 anchorCtr="1">
            <a:noAutofit/>
          </a:bodyPr>
          <a:p>
            <a:pPr algn="ctr">
              <a:buNone/>
            </a:pPr>
            <a:r>
              <a:rPr b="1" lang="zh-CN" sz="28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实验方案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324000" y="432000"/>
            <a:ext cx="115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 anchorCtr="1">
            <a:noAutofit/>
          </a:bodyPr>
          <a:p>
            <a:pPr algn="ctr">
              <a:buNone/>
            </a:pPr>
            <a:r>
              <a:rPr b="0" lang="zh-CN" sz="130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围绕底层控制、局部视觉规划、仿真验证和实物部署开展分层实验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540000" y="648000"/>
            <a:ext cx="11112120" cy="0"/>
          </a:xfrm>
          <a:prstGeom prst="line">
            <a:avLst/>
          </a:prstGeom>
          <a:ln w="8640">
            <a:solidFill>
              <a:srgbClr val="7f9db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"/>
          <p:cNvSpPr/>
          <p:nvPr/>
        </p:nvSpPr>
        <p:spPr>
          <a:xfrm>
            <a:off x="324000" y="792000"/>
            <a:ext cx="5526000" cy="2484000"/>
          </a:xfrm>
          <a:prstGeom prst="rect">
            <a:avLst/>
          </a:prstGeom>
          <a:solidFill>
            <a:srgbClr val="ffffff"/>
          </a:solidFill>
          <a:ln w="10080">
            <a:solidFill>
              <a:srgbClr val="8da3b7"/>
            </a:solidFill>
            <a:custDash>
              <a:ds d="750000" sp="428571"/>
            </a:custDash>
            <a:round/>
          </a:ln>
        </p:spPr>
      </p:sp>
      <p:sp>
        <p:nvSpPr>
          <p:cNvPr id="47" name=""/>
          <p:cNvSpPr/>
          <p:nvPr/>
        </p:nvSpPr>
        <p:spPr>
          <a:xfrm>
            <a:off x="475200" y="1738800"/>
            <a:ext cx="1692000" cy="590400"/>
          </a:xfrm>
          <a:prstGeom prst="roundRect">
            <a:avLst/>
          </a:prstGeom>
          <a:solidFill>
            <a:srgbClr val="bdd7ee"/>
          </a:solidFill>
          <a:ln w="0">
            <a:solidFill>
              <a:srgbClr val="bdd7ee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1" lang="en-US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1. </a:t>
            </a:r>
            <a:r>
              <a:rPr b="1" lang="zh-CN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底层运动控制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2808000" y="1117800"/>
            <a:ext cx="2790000" cy="486000"/>
          </a:xfrm>
          <a:prstGeom prst="roundRect">
            <a:avLst/>
          </a:prstGeom>
          <a:solidFill>
            <a:srgbClr val="c6e0b4"/>
          </a:solidFill>
          <a:ln w="0">
            <a:solidFill>
              <a:srgbClr val="c6e0b4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HIMLoco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策略训练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2808000" y="1791000"/>
            <a:ext cx="2790000" cy="486000"/>
          </a:xfrm>
          <a:prstGeom prst="roundRect">
            <a:avLst/>
          </a:prstGeom>
          <a:solidFill>
            <a:srgbClr val="c6e0b4"/>
          </a:solidFill>
          <a:ln w="0">
            <a:solidFill>
              <a:srgbClr val="c6e0b4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HIMLoco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与</a:t>
            </a: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RAM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跟踪对比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2808000" y="2464200"/>
            <a:ext cx="2790000" cy="486000"/>
          </a:xfrm>
          <a:prstGeom prst="roundRect">
            <a:avLst/>
          </a:prstGeom>
          <a:solidFill>
            <a:srgbClr val="c6e0b4"/>
          </a:solidFill>
          <a:ln w="0">
            <a:solidFill>
              <a:srgbClr val="c6e0b4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统一导航速度接口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2167200" y="2034000"/>
            <a:ext cx="3528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"/>
          <p:cNvSpPr/>
          <p:nvPr/>
        </p:nvSpPr>
        <p:spPr>
          <a:xfrm>
            <a:off x="2520000" y="1360800"/>
            <a:ext cx="0" cy="134640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"/>
          <p:cNvSpPr/>
          <p:nvPr/>
        </p:nvSpPr>
        <p:spPr>
          <a:xfrm>
            <a:off x="2520000" y="1360800"/>
            <a:ext cx="2880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"/>
          <p:cNvSpPr/>
          <p:nvPr/>
        </p:nvSpPr>
        <p:spPr>
          <a:xfrm>
            <a:off x="2520000" y="2034000"/>
            <a:ext cx="2880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"/>
          <p:cNvSpPr/>
          <p:nvPr/>
        </p:nvSpPr>
        <p:spPr>
          <a:xfrm>
            <a:off x="2520000" y="2707200"/>
            <a:ext cx="2880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"/>
          <p:cNvSpPr/>
          <p:nvPr/>
        </p:nvSpPr>
        <p:spPr>
          <a:xfrm>
            <a:off x="4156200" y="1616400"/>
            <a:ext cx="93600" cy="162000"/>
          </a:xfrm>
          <a:custGeom>
            <a:avLst/>
            <a:gdLst/>
            <a:ahLst/>
            <a:rect l="0" t="0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</p:sp>
      <p:sp>
        <p:nvSpPr>
          <p:cNvPr id="57" name=""/>
          <p:cNvSpPr/>
          <p:nvPr/>
        </p:nvSpPr>
        <p:spPr>
          <a:xfrm>
            <a:off x="4156200" y="2289600"/>
            <a:ext cx="93600" cy="162000"/>
          </a:xfrm>
          <a:custGeom>
            <a:avLst/>
            <a:gdLst/>
            <a:ahLst/>
            <a:rect l="0" t="0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</p:sp>
      <p:sp>
        <p:nvSpPr>
          <p:cNvPr id="58" name=""/>
          <p:cNvSpPr/>
          <p:nvPr/>
        </p:nvSpPr>
        <p:spPr>
          <a:xfrm>
            <a:off x="6342120" y="792000"/>
            <a:ext cx="5526000" cy="2484000"/>
          </a:xfrm>
          <a:prstGeom prst="rect">
            <a:avLst/>
          </a:prstGeom>
          <a:solidFill>
            <a:srgbClr val="ffffff"/>
          </a:solidFill>
          <a:ln w="10080">
            <a:solidFill>
              <a:srgbClr val="8da3b7"/>
            </a:solidFill>
            <a:custDash>
              <a:ds d="750000" sp="428571"/>
            </a:custDash>
            <a:round/>
          </a:ln>
        </p:spPr>
      </p:sp>
      <p:sp>
        <p:nvSpPr>
          <p:cNvPr id="59" name=""/>
          <p:cNvSpPr/>
          <p:nvPr/>
        </p:nvSpPr>
        <p:spPr>
          <a:xfrm>
            <a:off x="6493320" y="1738800"/>
            <a:ext cx="1692000" cy="590400"/>
          </a:xfrm>
          <a:prstGeom prst="roundRect">
            <a:avLst/>
          </a:prstGeom>
          <a:solidFill>
            <a:srgbClr val="bdd7ee"/>
          </a:solidFill>
          <a:ln w="0">
            <a:solidFill>
              <a:srgbClr val="bdd7ee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1" lang="en-US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2. </a:t>
            </a:r>
            <a:r>
              <a:rPr b="1" lang="zh-CN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局部感知与规划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8826120" y="1117800"/>
            <a:ext cx="2790000" cy="486000"/>
          </a:xfrm>
          <a:prstGeom prst="roundRect">
            <a:avLst/>
          </a:prstGeom>
          <a:solidFill>
            <a:srgbClr val="c6e0b4"/>
          </a:solidFill>
          <a:ln w="0">
            <a:solidFill>
              <a:srgbClr val="c6e0b4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D435i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深度恢复点云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8826120" y="1791000"/>
            <a:ext cx="2790000" cy="486000"/>
          </a:xfrm>
          <a:prstGeom prst="roundRect">
            <a:avLst/>
          </a:prstGeom>
          <a:solidFill>
            <a:srgbClr val="c6e0b4"/>
          </a:solidFill>
          <a:ln w="0">
            <a:solidFill>
              <a:srgbClr val="c6e0b4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局部</a:t>
            </a: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BEV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与双层代价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8826120" y="2464200"/>
            <a:ext cx="2790000" cy="486000"/>
          </a:xfrm>
          <a:prstGeom prst="roundRect">
            <a:avLst/>
          </a:prstGeom>
          <a:solidFill>
            <a:srgbClr val="c6e0b4"/>
          </a:solidFill>
          <a:ln w="0">
            <a:solidFill>
              <a:srgbClr val="c6e0b4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FMM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引导足迹</a:t>
            </a: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MPPI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8185320" y="2034000"/>
            <a:ext cx="3528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"/>
          <p:cNvSpPr/>
          <p:nvPr/>
        </p:nvSpPr>
        <p:spPr>
          <a:xfrm>
            <a:off x="8538120" y="1360800"/>
            <a:ext cx="0" cy="134640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"/>
          <p:cNvSpPr/>
          <p:nvPr/>
        </p:nvSpPr>
        <p:spPr>
          <a:xfrm>
            <a:off x="8538120" y="1360800"/>
            <a:ext cx="2880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"/>
          <p:cNvSpPr/>
          <p:nvPr/>
        </p:nvSpPr>
        <p:spPr>
          <a:xfrm>
            <a:off x="8538120" y="2034000"/>
            <a:ext cx="2880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"/>
          <p:cNvSpPr/>
          <p:nvPr/>
        </p:nvSpPr>
        <p:spPr>
          <a:xfrm>
            <a:off x="8538120" y="2707200"/>
            <a:ext cx="2880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"/>
          <p:cNvSpPr/>
          <p:nvPr/>
        </p:nvSpPr>
        <p:spPr>
          <a:xfrm>
            <a:off x="10174320" y="1616400"/>
            <a:ext cx="93600" cy="162000"/>
          </a:xfrm>
          <a:custGeom>
            <a:avLst/>
            <a:gdLst/>
            <a:ahLst/>
            <a:rect l="0" t="0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</p:sp>
      <p:sp>
        <p:nvSpPr>
          <p:cNvPr id="69" name=""/>
          <p:cNvSpPr/>
          <p:nvPr/>
        </p:nvSpPr>
        <p:spPr>
          <a:xfrm>
            <a:off x="10174320" y="2289600"/>
            <a:ext cx="93600" cy="162000"/>
          </a:xfrm>
          <a:custGeom>
            <a:avLst/>
            <a:gdLst/>
            <a:ahLst/>
            <a:rect l="0" t="0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</p:sp>
      <p:sp>
        <p:nvSpPr>
          <p:cNvPr id="70" name=""/>
          <p:cNvSpPr/>
          <p:nvPr/>
        </p:nvSpPr>
        <p:spPr>
          <a:xfrm>
            <a:off x="6342120" y="3610800"/>
            <a:ext cx="5526000" cy="2484000"/>
          </a:xfrm>
          <a:prstGeom prst="rect">
            <a:avLst/>
          </a:prstGeom>
          <a:solidFill>
            <a:srgbClr val="ffffff"/>
          </a:solidFill>
          <a:ln w="10080">
            <a:solidFill>
              <a:srgbClr val="8da3b7"/>
            </a:solidFill>
            <a:custDash>
              <a:ds d="750000" sp="428571"/>
            </a:custDash>
            <a:round/>
          </a:ln>
        </p:spPr>
      </p:sp>
      <p:sp>
        <p:nvSpPr>
          <p:cNvPr id="71" name=""/>
          <p:cNvSpPr/>
          <p:nvPr/>
        </p:nvSpPr>
        <p:spPr>
          <a:xfrm>
            <a:off x="6493320" y="4557600"/>
            <a:ext cx="1692000" cy="590400"/>
          </a:xfrm>
          <a:prstGeom prst="roundRect">
            <a:avLst/>
          </a:prstGeom>
          <a:solidFill>
            <a:srgbClr val="bdd7ee"/>
          </a:solidFill>
          <a:ln w="0">
            <a:solidFill>
              <a:srgbClr val="bdd7ee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1" lang="en-US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3. </a:t>
            </a:r>
            <a:r>
              <a:rPr b="1" lang="zh-CN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仿真实验验证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8826120" y="3936600"/>
            <a:ext cx="2790000" cy="486000"/>
          </a:xfrm>
          <a:prstGeom prst="roundRect">
            <a:avLst/>
          </a:prstGeom>
          <a:solidFill>
            <a:srgbClr val="c6e0b4"/>
          </a:solidFill>
          <a:ln w="0">
            <a:solidFill>
              <a:srgbClr val="c6e0b4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三档离散高度场景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8826120" y="4609800"/>
            <a:ext cx="2790000" cy="486000"/>
          </a:xfrm>
          <a:prstGeom prst="roundRect">
            <a:avLst/>
          </a:prstGeom>
          <a:solidFill>
            <a:srgbClr val="c6e0b4"/>
          </a:solidFill>
          <a:ln w="0">
            <a:solidFill>
              <a:srgbClr val="c6e0b4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30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个固定种子消融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8826120" y="5283000"/>
            <a:ext cx="2790000" cy="486000"/>
          </a:xfrm>
          <a:prstGeom prst="roundRect">
            <a:avLst/>
          </a:prstGeom>
          <a:solidFill>
            <a:srgbClr val="c6e0b4"/>
          </a:solidFill>
          <a:ln w="0">
            <a:solidFill>
              <a:srgbClr val="c6e0b4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VIO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噪声与外部对比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8185320" y="4852800"/>
            <a:ext cx="3528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"/>
          <p:cNvSpPr/>
          <p:nvPr/>
        </p:nvSpPr>
        <p:spPr>
          <a:xfrm>
            <a:off x="8538120" y="4179600"/>
            <a:ext cx="0" cy="134640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"/>
          <p:cNvSpPr/>
          <p:nvPr/>
        </p:nvSpPr>
        <p:spPr>
          <a:xfrm>
            <a:off x="8538120" y="4179600"/>
            <a:ext cx="2880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"/>
          <p:cNvSpPr/>
          <p:nvPr/>
        </p:nvSpPr>
        <p:spPr>
          <a:xfrm>
            <a:off x="8538120" y="4852800"/>
            <a:ext cx="2880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"/>
          <p:cNvSpPr/>
          <p:nvPr/>
        </p:nvSpPr>
        <p:spPr>
          <a:xfrm>
            <a:off x="8538120" y="5526000"/>
            <a:ext cx="2880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"/>
          <p:cNvSpPr/>
          <p:nvPr/>
        </p:nvSpPr>
        <p:spPr>
          <a:xfrm>
            <a:off x="10174320" y="4435200"/>
            <a:ext cx="93600" cy="162000"/>
          </a:xfrm>
          <a:custGeom>
            <a:avLst/>
            <a:gdLst/>
            <a:ahLst/>
            <a:rect l="0" t="0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</p:sp>
      <p:sp>
        <p:nvSpPr>
          <p:cNvPr id="81" name=""/>
          <p:cNvSpPr/>
          <p:nvPr/>
        </p:nvSpPr>
        <p:spPr>
          <a:xfrm>
            <a:off x="10174320" y="5108400"/>
            <a:ext cx="93600" cy="162000"/>
          </a:xfrm>
          <a:custGeom>
            <a:avLst/>
            <a:gdLst/>
            <a:ahLst/>
            <a:rect l="0" t="0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</p:sp>
      <p:sp>
        <p:nvSpPr>
          <p:cNvPr id="82" name=""/>
          <p:cNvSpPr/>
          <p:nvPr/>
        </p:nvSpPr>
        <p:spPr>
          <a:xfrm>
            <a:off x="324000" y="3610800"/>
            <a:ext cx="5526000" cy="2484000"/>
          </a:xfrm>
          <a:prstGeom prst="rect">
            <a:avLst/>
          </a:prstGeom>
          <a:solidFill>
            <a:srgbClr val="ffffff"/>
          </a:solidFill>
          <a:ln w="10080">
            <a:solidFill>
              <a:srgbClr val="8da3b7"/>
            </a:solidFill>
            <a:custDash>
              <a:ds d="750000" sp="428571"/>
            </a:custDash>
            <a:round/>
          </a:ln>
        </p:spPr>
      </p:sp>
      <p:sp>
        <p:nvSpPr>
          <p:cNvPr id="83" name=""/>
          <p:cNvSpPr/>
          <p:nvPr/>
        </p:nvSpPr>
        <p:spPr>
          <a:xfrm>
            <a:off x="475200" y="4557600"/>
            <a:ext cx="1692000" cy="590400"/>
          </a:xfrm>
          <a:prstGeom prst="roundRect">
            <a:avLst/>
          </a:prstGeom>
          <a:solidFill>
            <a:srgbClr val="bdd7ee"/>
          </a:solidFill>
          <a:ln w="0">
            <a:solidFill>
              <a:srgbClr val="bdd7ee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1" lang="en-US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4. </a:t>
            </a:r>
            <a:r>
              <a:rPr b="1" lang="zh-CN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实物系统部署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2808000" y="3936600"/>
            <a:ext cx="2790000" cy="486000"/>
          </a:xfrm>
          <a:prstGeom prst="roundRect">
            <a:avLst/>
          </a:prstGeom>
          <a:solidFill>
            <a:srgbClr val="c6e0b4"/>
          </a:solidFill>
          <a:ln w="0">
            <a:solidFill>
              <a:srgbClr val="c6e0b4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Go2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与</a:t>
            </a: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D435i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标定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2808000" y="4609800"/>
            <a:ext cx="2790000" cy="486000"/>
          </a:xfrm>
          <a:prstGeom prst="roundRect">
            <a:avLst/>
          </a:prstGeom>
          <a:solidFill>
            <a:srgbClr val="c6e0b4"/>
          </a:solidFill>
          <a:ln w="0">
            <a:solidFill>
              <a:srgbClr val="c6e0b4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VIO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与</a:t>
            </a: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ROS2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数据链路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2808000" y="5283000"/>
            <a:ext cx="2790000" cy="486000"/>
          </a:xfrm>
          <a:prstGeom prst="roundRect">
            <a:avLst/>
          </a:prstGeom>
          <a:solidFill>
            <a:srgbClr val="c6e0b4"/>
          </a:solidFill>
          <a:ln w="0">
            <a:solidFill>
              <a:srgbClr val="c6e0b4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野外混合地形验证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2167200" y="4852800"/>
            <a:ext cx="3528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"/>
          <p:cNvSpPr/>
          <p:nvPr/>
        </p:nvSpPr>
        <p:spPr>
          <a:xfrm>
            <a:off x="2520000" y="4179600"/>
            <a:ext cx="0" cy="134640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"/>
          <p:cNvSpPr/>
          <p:nvPr/>
        </p:nvSpPr>
        <p:spPr>
          <a:xfrm>
            <a:off x="2520000" y="4179600"/>
            <a:ext cx="2880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"/>
          <p:cNvSpPr/>
          <p:nvPr/>
        </p:nvSpPr>
        <p:spPr>
          <a:xfrm>
            <a:off x="2520000" y="4852800"/>
            <a:ext cx="2880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"/>
          <p:cNvSpPr/>
          <p:nvPr/>
        </p:nvSpPr>
        <p:spPr>
          <a:xfrm>
            <a:off x="2520000" y="5526000"/>
            <a:ext cx="2880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"/>
          <p:cNvSpPr/>
          <p:nvPr/>
        </p:nvSpPr>
        <p:spPr>
          <a:xfrm>
            <a:off x="4156200" y="4435200"/>
            <a:ext cx="93600" cy="162000"/>
          </a:xfrm>
          <a:custGeom>
            <a:avLst/>
            <a:gdLst/>
            <a:ahLst/>
            <a:rect l="0" t="0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</p:sp>
      <p:sp>
        <p:nvSpPr>
          <p:cNvPr id="93" name=""/>
          <p:cNvSpPr/>
          <p:nvPr/>
        </p:nvSpPr>
        <p:spPr>
          <a:xfrm>
            <a:off x="4156200" y="5108400"/>
            <a:ext cx="93600" cy="162000"/>
          </a:xfrm>
          <a:custGeom>
            <a:avLst/>
            <a:gdLst/>
            <a:ahLst/>
            <a:rect l="0" t="0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</p:sp>
      <p:sp>
        <p:nvSpPr>
          <p:cNvPr id="94" name=""/>
          <p:cNvSpPr/>
          <p:nvPr/>
        </p:nvSpPr>
        <p:spPr>
          <a:xfrm>
            <a:off x="5893200" y="1922400"/>
            <a:ext cx="405720" cy="223200"/>
          </a:xfrm>
          <a:custGeom>
            <a:avLst/>
            <a:gdLst/>
            <a:ahLst/>
            <a:rect l="0" t="0" r="r" b="b"/>
            <a:pathLst>
              <a:path w="1127" h="620">
                <a:moveTo>
                  <a:pt x="0" y="220"/>
                </a:moveTo>
                <a:lnTo>
                  <a:pt x="607" y="220"/>
                </a:lnTo>
                <a:lnTo>
                  <a:pt x="607" y="0"/>
                </a:lnTo>
                <a:lnTo>
                  <a:pt x="1127" y="310"/>
                </a:lnTo>
                <a:lnTo>
                  <a:pt x="607" y="620"/>
                </a:lnTo>
                <a:lnTo>
                  <a:pt x="607" y="400"/>
                </a:lnTo>
                <a:lnTo>
                  <a:pt x="0" y="400"/>
                </a:lnTo>
                <a:lnTo>
                  <a:pt x="0" y="22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</p:sp>
      <p:sp>
        <p:nvSpPr>
          <p:cNvPr id="95" name=""/>
          <p:cNvSpPr/>
          <p:nvPr/>
        </p:nvSpPr>
        <p:spPr>
          <a:xfrm>
            <a:off x="8993520" y="3308400"/>
            <a:ext cx="223200" cy="270000"/>
          </a:xfrm>
          <a:custGeom>
            <a:avLst/>
            <a:gdLst/>
            <a:ahLst/>
            <a:rect l="0" t="0" r="r" b="b"/>
            <a:pathLst>
              <a:path w="620" h="750">
                <a:moveTo>
                  <a:pt x="220" y="0"/>
                </a:moveTo>
                <a:lnTo>
                  <a:pt x="400" y="0"/>
                </a:lnTo>
                <a:lnTo>
                  <a:pt x="400" y="230"/>
                </a:lnTo>
                <a:lnTo>
                  <a:pt x="620" y="230"/>
                </a:lnTo>
                <a:lnTo>
                  <a:pt x="310" y="750"/>
                </a:lnTo>
                <a:lnTo>
                  <a:pt x="0" y="230"/>
                </a:lnTo>
                <a:lnTo>
                  <a:pt x="220" y="230"/>
                </a:lnTo>
                <a:lnTo>
                  <a:pt x="22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</p:sp>
      <p:sp>
        <p:nvSpPr>
          <p:cNvPr id="96" name=""/>
          <p:cNvSpPr/>
          <p:nvPr/>
        </p:nvSpPr>
        <p:spPr>
          <a:xfrm>
            <a:off x="5893200" y="4741200"/>
            <a:ext cx="405720" cy="223200"/>
          </a:xfrm>
          <a:custGeom>
            <a:avLst/>
            <a:gdLst/>
            <a:ahLst/>
            <a:rect l="0" t="0" r="r" b="b"/>
            <a:pathLst>
              <a:path w="1127" h="620">
                <a:moveTo>
                  <a:pt x="1127" y="220"/>
                </a:moveTo>
                <a:lnTo>
                  <a:pt x="520" y="220"/>
                </a:lnTo>
                <a:lnTo>
                  <a:pt x="520" y="0"/>
                </a:lnTo>
                <a:lnTo>
                  <a:pt x="0" y="310"/>
                </a:lnTo>
                <a:lnTo>
                  <a:pt x="520" y="620"/>
                </a:lnTo>
                <a:lnTo>
                  <a:pt x="520" y="400"/>
                </a:lnTo>
                <a:lnTo>
                  <a:pt x="1127" y="400"/>
                </a:lnTo>
                <a:lnTo>
                  <a:pt x="1127" y="22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</p:sp>
      <p:sp>
        <p:nvSpPr>
          <p:cNvPr id="97" name=""/>
          <p:cNvSpPr txBox="1"/>
          <p:nvPr/>
        </p:nvSpPr>
        <p:spPr>
          <a:xfrm>
            <a:off x="432000" y="6624000"/>
            <a:ext cx="11304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 anchorCtr="1">
            <a:noAutofit/>
          </a:bodyPr>
          <a:p>
            <a:pPr algn="ctr">
              <a:buNone/>
            </a:pPr>
            <a:r>
              <a:rPr b="0" lang="zh-CN" sz="95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平台：</a:t>
            </a:r>
            <a:r>
              <a:rPr b="0" lang="en-US" sz="95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Unitree Go2</a:t>
            </a:r>
            <a:r>
              <a:rPr b="0" lang="zh-CN" sz="95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、</a:t>
            </a:r>
            <a:r>
              <a:rPr b="0" lang="en-US" sz="95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Intel RealSense D435i</a:t>
            </a:r>
            <a:r>
              <a:rPr b="0" lang="zh-CN" sz="95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、</a:t>
            </a:r>
            <a:r>
              <a:rPr b="0" lang="en-US" sz="95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Isaac Gym    </a:t>
            </a:r>
            <a:r>
              <a:rPr b="0" lang="zh-CN" sz="95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正式实验：</a:t>
            </a:r>
            <a:r>
              <a:rPr b="0" lang="en-US" sz="95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750</a:t>
            </a:r>
            <a:r>
              <a:rPr b="0" lang="zh-CN" sz="95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轮</a:t>
            </a:r>
            <a:endParaRPr b="0" lang="en-US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 txBox="1"/>
          <p:nvPr/>
        </p:nvSpPr>
        <p:spPr>
          <a:xfrm>
            <a:off x="324000" y="129600"/>
            <a:ext cx="115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 anchorCtr="1">
            <a:noAutofit/>
          </a:bodyPr>
          <a:p>
            <a:pPr algn="ctr">
              <a:buNone/>
            </a:pPr>
            <a:r>
              <a:rPr b="1" lang="zh-CN" sz="28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技术路线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324000" y="432000"/>
            <a:ext cx="115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 anchorCtr="1">
            <a:noAutofit/>
          </a:bodyPr>
          <a:p>
            <a:pPr algn="ctr">
              <a:buNone/>
            </a:pPr>
            <a:r>
              <a:rPr b="0" lang="zh-CN" sz="130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深度视觉建立局部几何代价，</a:t>
            </a:r>
            <a:r>
              <a:rPr b="0" lang="en-US" sz="130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FMM</a:t>
            </a:r>
            <a:r>
              <a:rPr b="0" lang="zh-CN" sz="130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提供走廊引导，足迹</a:t>
            </a:r>
            <a:r>
              <a:rPr b="0" lang="en-US" sz="130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MPPI</a:t>
            </a:r>
            <a:r>
              <a:rPr b="0" lang="zh-CN" sz="130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生成平滑速度指令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540000" y="648000"/>
            <a:ext cx="11112120" cy="0"/>
          </a:xfrm>
          <a:prstGeom prst="line">
            <a:avLst/>
          </a:prstGeom>
          <a:ln w="8640">
            <a:solidFill>
              <a:srgbClr val="7f9db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"/>
          <p:cNvSpPr/>
          <p:nvPr/>
        </p:nvSpPr>
        <p:spPr>
          <a:xfrm>
            <a:off x="324000" y="792000"/>
            <a:ext cx="5526000" cy="2484000"/>
          </a:xfrm>
          <a:prstGeom prst="rect">
            <a:avLst/>
          </a:prstGeom>
          <a:solidFill>
            <a:srgbClr val="ffffff"/>
          </a:solidFill>
          <a:ln w="10080">
            <a:solidFill>
              <a:srgbClr val="8da3b7"/>
            </a:solidFill>
            <a:custDash>
              <a:ds d="750000" sp="428571"/>
            </a:custDash>
            <a:round/>
          </a:ln>
        </p:spPr>
      </p:sp>
      <p:sp>
        <p:nvSpPr>
          <p:cNvPr id="102" name=""/>
          <p:cNvSpPr/>
          <p:nvPr/>
        </p:nvSpPr>
        <p:spPr>
          <a:xfrm>
            <a:off x="475200" y="1738800"/>
            <a:ext cx="1692000" cy="590400"/>
          </a:xfrm>
          <a:prstGeom prst="roundRect">
            <a:avLst/>
          </a:prstGeom>
          <a:solidFill>
            <a:srgbClr val="bdd7ee"/>
          </a:solidFill>
          <a:ln w="0">
            <a:solidFill>
              <a:srgbClr val="bdd7ee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1" lang="en-US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1. </a:t>
            </a:r>
            <a:r>
              <a:rPr b="1" lang="zh-CN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运动控制准备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2808000" y="1117800"/>
            <a:ext cx="2790000" cy="486000"/>
          </a:xfrm>
          <a:prstGeom prst="roundRect">
            <a:avLst/>
          </a:prstGeom>
          <a:solidFill>
            <a:srgbClr val="c6e0b4"/>
          </a:solidFill>
          <a:ln w="0">
            <a:solidFill>
              <a:srgbClr val="c6e0b4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训练并部署</a:t>
            </a: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HIMLoco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2808000" y="1791000"/>
            <a:ext cx="2790000" cy="486000"/>
          </a:xfrm>
          <a:prstGeom prst="roundRect">
            <a:avLst/>
          </a:prstGeom>
          <a:solidFill>
            <a:srgbClr val="c6e0b4"/>
          </a:solidFill>
          <a:ln w="0">
            <a:solidFill>
              <a:srgbClr val="c6e0b4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验证速度跟踪精度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2808000" y="2464200"/>
            <a:ext cx="2790000" cy="486000"/>
          </a:xfrm>
          <a:prstGeom prst="roundRect">
            <a:avLst/>
          </a:prstGeom>
          <a:solidFill>
            <a:srgbClr val="c6e0b4"/>
          </a:solidFill>
          <a:ln w="0">
            <a:solidFill>
              <a:srgbClr val="c6e0b4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固定底层控制策略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2167200" y="2034000"/>
            <a:ext cx="3528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"/>
          <p:cNvSpPr/>
          <p:nvPr/>
        </p:nvSpPr>
        <p:spPr>
          <a:xfrm>
            <a:off x="2520000" y="1360800"/>
            <a:ext cx="0" cy="134640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"/>
          <p:cNvSpPr/>
          <p:nvPr/>
        </p:nvSpPr>
        <p:spPr>
          <a:xfrm>
            <a:off x="2520000" y="1360800"/>
            <a:ext cx="2880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"/>
          <p:cNvSpPr/>
          <p:nvPr/>
        </p:nvSpPr>
        <p:spPr>
          <a:xfrm>
            <a:off x="2520000" y="2034000"/>
            <a:ext cx="2880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"/>
          <p:cNvSpPr/>
          <p:nvPr/>
        </p:nvSpPr>
        <p:spPr>
          <a:xfrm>
            <a:off x="2520000" y="2707200"/>
            <a:ext cx="2880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"/>
          <p:cNvSpPr/>
          <p:nvPr/>
        </p:nvSpPr>
        <p:spPr>
          <a:xfrm>
            <a:off x="4156200" y="1616400"/>
            <a:ext cx="93600" cy="162000"/>
          </a:xfrm>
          <a:custGeom>
            <a:avLst/>
            <a:gdLst/>
            <a:ahLst/>
            <a:rect l="0" t="0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</p:sp>
      <p:sp>
        <p:nvSpPr>
          <p:cNvPr id="112" name=""/>
          <p:cNvSpPr/>
          <p:nvPr/>
        </p:nvSpPr>
        <p:spPr>
          <a:xfrm>
            <a:off x="4156200" y="2289600"/>
            <a:ext cx="93600" cy="162000"/>
          </a:xfrm>
          <a:custGeom>
            <a:avLst/>
            <a:gdLst/>
            <a:ahLst/>
            <a:rect l="0" t="0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</p:sp>
      <p:sp>
        <p:nvSpPr>
          <p:cNvPr id="113" name=""/>
          <p:cNvSpPr/>
          <p:nvPr/>
        </p:nvSpPr>
        <p:spPr>
          <a:xfrm>
            <a:off x="6342120" y="792000"/>
            <a:ext cx="5526000" cy="2484000"/>
          </a:xfrm>
          <a:prstGeom prst="rect">
            <a:avLst/>
          </a:prstGeom>
          <a:solidFill>
            <a:srgbClr val="ffffff"/>
          </a:solidFill>
          <a:ln w="10080">
            <a:solidFill>
              <a:srgbClr val="8da3b7"/>
            </a:solidFill>
            <a:custDash>
              <a:ds d="750000" sp="428571"/>
            </a:custDash>
            <a:round/>
          </a:ln>
        </p:spPr>
      </p:sp>
      <p:sp>
        <p:nvSpPr>
          <p:cNvPr id="114" name=""/>
          <p:cNvSpPr/>
          <p:nvPr/>
        </p:nvSpPr>
        <p:spPr>
          <a:xfrm>
            <a:off x="6493320" y="1738800"/>
            <a:ext cx="1692000" cy="590400"/>
          </a:xfrm>
          <a:prstGeom prst="roundRect">
            <a:avLst/>
          </a:prstGeom>
          <a:solidFill>
            <a:srgbClr val="bdd7ee"/>
          </a:solidFill>
          <a:ln w="0">
            <a:solidFill>
              <a:srgbClr val="bdd7ee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1" lang="en-US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2. </a:t>
            </a:r>
            <a:r>
              <a:rPr b="1" lang="zh-CN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视觉几何建图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8826120" y="1117800"/>
            <a:ext cx="2790000" cy="486000"/>
          </a:xfrm>
          <a:prstGeom prst="roundRect">
            <a:avLst/>
          </a:prstGeom>
          <a:solidFill>
            <a:srgbClr val="c6e0b4"/>
          </a:solidFill>
          <a:ln w="0">
            <a:solidFill>
              <a:srgbClr val="c6e0b4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深度图恢复局部点云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8826120" y="1791000"/>
            <a:ext cx="2790000" cy="486000"/>
          </a:xfrm>
          <a:prstGeom prst="roundRect">
            <a:avLst/>
          </a:prstGeom>
          <a:solidFill>
            <a:srgbClr val="c6e0b4"/>
          </a:solidFill>
          <a:ln w="0">
            <a:solidFill>
              <a:srgbClr val="c6e0b4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地面过滤与</a:t>
            </a: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BEV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栅格化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8826120" y="2464200"/>
            <a:ext cx="2790000" cy="486000"/>
          </a:xfrm>
          <a:prstGeom prst="roundRect">
            <a:avLst/>
          </a:prstGeom>
          <a:solidFill>
            <a:srgbClr val="c6e0b4"/>
          </a:solidFill>
          <a:ln w="0">
            <a:solidFill>
              <a:srgbClr val="c6e0b4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构建硬碰撞层和软代价层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8185320" y="2034000"/>
            <a:ext cx="3528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"/>
          <p:cNvSpPr/>
          <p:nvPr/>
        </p:nvSpPr>
        <p:spPr>
          <a:xfrm>
            <a:off x="8538120" y="1360800"/>
            <a:ext cx="0" cy="134640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"/>
          <p:cNvSpPr/>
          <p:nvPr/>
        </p:nvSpPr>
        <p:spPr>
          <a:xfrm>
            <a:off x="8538120" y="1360800"/>
            <a:ext cx="2880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"/>
          <p:cNvSpPr/>
          <p:nvPr/>
        </p:nvSpPr>
        <p:spPr>
          <a:xfrm>
            <a:off x="8538120" y="2034000"/>
            <a:ext cx="2880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"/>
          <p:cNvSpPr/>
          <p:nvPr/>
        </p:nvSpPr>
        <p:spPr>
          <a:xfrm>
            <a:off x="8538120" y="2707200"/>
            <a:ext cx="2880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"/>
          <p:cNvSpPr/>
          <p:nvPr/>
        </p:nvSpPr>
        <p:spPr>
          <a:xfrm>
            <a:off x="10174320" y="1616400"/>
            <a:ext cx="93600" cy="162000"/>
          </a:xfrm>
          <a:custGeom>
            <a:avLst/>
            <a:gdLst/>
            <a:ahLst/>
            <a:rect l="0" t="0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</p:sp>
      <p:sp>
        <p:nvSpPr>
          <p:cNvPr id="124" name=""/>
          <p:cNvSpPr/>
          <p:nvPr/>
        </p:nvSpPr>
        <p:spPr>
          <a:xfrm>
            <a:off x="10174320" y="2289600"/>
            <a:ext cx="93600" cy="162000"/>
          </a:xfrm>
          <a:custGeom>
            <a:avLst/>
            <a:gdLst/>
            <a:ahLst/>
            <a:rect l="0" t="0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</p:sp>
      <p:sp>
        <p:nvSpPr>
          <p:cNvPr id="125" name=""/>
          <p:cNvSpPr/>
          <p:nvPr/>
        </p:nvSpPr>
        <p:spPr>
          <a:xfrm>
            <a:off x="6342120" y="3610800"/>
            <a:ext cx="5526000" cy="2484000"/>
          </a:xfrm>
          <a:prstGeom prst="rect">
            <a:avLst/>
          </a:prstGeom>
          <a:solidFill>
            <a:srgbClr val="ffffff"/>
          </a:solidFill>
          <a:ln w="10080">
            <a:solidFill>
              <a:srgbClr val="8da3b7"/>
            </a:solidFill>
            <a:custDash>
              <a:ds d="750000" sp="428571"/>
            </a:custDash>
            <a:round/>
          </a:ln>
        </p:spPr>
      </p:sp>
      <p:sp>
        <p:nvSpPr>
          <p:cNvPr id="126" name=""/>
          <p:cNvSpPr/>
          <p:nvPr/>
        </p:nvSpPr>
        <p:spPr>
          <a:xfrm>
            <a:off x="6493320" y="4557600"/>
            <a:ext cx="1692000" cy="590400"/>
          </a:xfrm>
          <a:prstGeom prst="roundRect">
            <a:avLst/>
          </a:prstGeom>
          <a:solidFill>
            <a:srgbClr val="bdd7ee"/>
          </a:solidFill>
          <a:ln w="0">
            <a:solidFill>
              <a:srgbClr val="bdd7ee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1" lang="en-US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3. </a:t>
            </a:r>
            <a:r>
              <a:rPr b="1" lang="zh-CN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局部运动规划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8826120" y="3936600"/>
            <a:ext cx="2790000" cy="486000"/>
          </a:xfrm>
          <a:prstGeom prst="roundRect">
            <a:avLst/>
          </a:prstGeom>
          <a:solidFill>
            <a:srgbClr val="c6e0b4"/>
          </a:solidFill>
          <a:ln w="0">
            <a:solidFill>
              <a:srgbClr val="c6e0b4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FMM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生成参考走廊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8826120" y="4609800"/>
            <a:ext cx="2790000" cy="486000"/>
          </a:xfrm>
          <a:prstGeom prst="roundRect">
            <a:avLst/>
          </a:prstGeom>
          <a:solidFill>
            <a:srgbClr val="c6e0b4"/>
          </a:solidFill>
          <a:ln w="0">
            <a:solidFill>
              <a:srgbClr val="c6e0b4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足迹</a:t>
            </a: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MPPI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采样与评价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8826120" y="5283000"/>
            <a:ext cx="2790000" cy="486000"/>
          </a:xfrm>
          <a:prstGeom prst="roundRect">
            <a:avLst/>
          </a:prstGeom>
          <a:solidFill>
            <a:srgbClr val="c6e0b4"/>
          </a:solidFill>
          <a:ln w="0">
            <a:solidFill>
              <a:srgbClr val="c6e0b4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输出线速度和角速度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8185320" y="4852800"/>
            <a:ext cx="3528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"/>
          <p:cNvSpPr/>
          <p:nvPr/>
        </p:nvSpPr>
        <p:spPr>
          <a:xfrm>
            <a:off x="8538120" y="4179600"/>
            <a:ext cx="0" cy="134640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"/>
          <p:cNvSpPr/>
          <p:nvPr/>
        </p:nvSpPr>
        <p:spPr>
          <a:xfrm>
            <a:off x="8538120" y="4179600"/>
            <a:ext cx="2880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"/>
          <p:cNvSpPr/>
          <p:nvPr/>
        </p:nvSpPr>
        <p:spPr>
          <a:xfrm>
            <a:off x="8538120" y="4852800"/>
            <a:ext cx="2880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"/>
          <p:cNvSpPr/>
          <p:nvPr/>
        </p:nvSpPr>
        <p:spPr>
          <a:xfrm>
            <a:off x="8538120" y="5526000"/>
            <a:ext cx="2880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>
            <a:off x="10174320" y="4435200"/>
            <a:ext cx="93600" cy="162000"/>
          </a:xfrm>
          <a:custGeom>
            <a:avLst/>
            <a:gdLst/>
            <a:ahLst/>
            <a:rect l="0" t="0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</p:sp>
      <p:sp>
        <p:nvSpPr>
          <p:cNvPr id="136" name=""/>
          <p:cNvSpPr/>
          <p:nvPr/>
        </p:nvSpPr>
        <p:spPr>
          <a:xfrm>
            <a:off x="10174320" y="5108400"/>
            <a:ext cx="93600" cy="162000"/>
          </a:xfrm>
          <a:custGeom>
            <a:avLst/>
            <a:gdLst/>
            <a:ahLst/>
            <a:rect l="0" t="0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</p:sp>
      <p:sp>
        <p:nvSpPr>
          <p:cNvPr id="137" name=""/>
          <p:cNvSpPr/>
          <p:nvPr/>
        </p:nvSpPr>
        <p:spPr>
          <a:xfrm>
            <a:off x="324000" y="3610800"/>
            <a:ext cx="5526000" cy="2484000"/>
          </a:xfrm>
          <a:prstGeom prst="rect">
            <a:avLst/>
          </a:prstGeom>
          <a:solidFill>
            <a:srgbClr val="ffffff"/>
          </a:solidFill>
          <a:ln w="10080">
            <a:solidFill>
              <a:srgbClr val="8da3b7"/>
            </a:solidFill>
            <a:custDash>
              <a:ds d="750000" sp="428571"/>
            </a:custDash>
            <a:round/>
          </a:ln>
        </p:spPr>
      </p:sp>
      <p:sp>
        <p:nvSpPr>
          <p:cNvPr id="138" name=""/>
          <p:cNvSpPr/>
          <p:nvPr/>
        </p:nvSpPr>
        <p:spPr>
          <a:xfrm>
            <a:off x="475200" y="4557600"/>
            <a:ext cx="1692000" cy="590400"/>
          </a:xfrm>
          <a:prstGeom prst="roundRect">
            <a:avLst/>
          </a:prstGeom>
          <a:solidFill>
            <a:srgbClr val="bdd7ee"/>
          </a:solidFill>
          <a:ln w="0">
            <a:solidFill>
              <a:srgbClr val="bdd7ee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1" lang="en-US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4. </a:t>
            </a:r>
            <a:r>
              <a:rPr b="1" lang="zh-CN" sz="1700" spc="-1" strike="noStrike">
                <a:solidFill>
                  <a:srgbClr val="24445f"/>
                </a:solidFill>
                <a:latin typeface="Microsoft YaHei"/>
                <a:ea typeface="Microsoft YaHei"/>
              </a:rPr>
              <a:t>验证与能力扩展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2808000" y="3936600"/>
            <a:ext cx="2790000" cy="486000"/>
          </a:xfrm>
          <a:prstGeom prst="roundRect">
            <a:avLst/>
          </a:prstGeom>
          <a:solidFill>
            <a:srgbClr val="c6e0b4"/>
          </a:solidFill>
          <a:ln w="0">
            <a:solidFill>
              <a:srgbClr val="c6e0b4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三档场景和</a:t>
            </a: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VIO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噪声实验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2808000" y="4609800"/>
            <a:ext cx="2790000" cy="486000"/>
          </a:xfrm>
          <a:prstGeom prst="roundRect">
            <a:avLst/>
          </a:prstGeom>
          <a:solidFill>
            <a:srgbClr val="c6e0b4"/>
          </a:solidFill>
          <a:ln w="0">
            <a:solidFill>
              <a:srgbClr val="c6e0b4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0" lang="en-US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iPlanner</a:t>
            </a: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等方法对比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2808000" y="5283000"/>
            <a:ext cx="2790000" cy="486000"/>
          </a:xfrm>
          <a:prstGeom prst="roundRect">
            <a:avLst/>
          </a:prstGeom>
          <a:solidFill>
            <a:srgbClr val="c6e0b4"/>
          </a:solidFill>
          <a:ln w="0">
            <a:solidFill>
              <a:srgbClr val="c6e0b4"/>
            </a:solidFill>
          </a:ln>
        </p:spPr>
        <p:txBody>
          <a:bodyPr lIns="61200" rIns="61200" tIns="28800" bIns="28800" anchor="b" anchorCtr="1">
            <a:noAutofit/>
          </a:bodyPr>
          <a:p>
            <a:pPr algn="ctr">
              <a:buNone/>
            </a:pPr>
            <a:r>
              <a:rPr b="0" lang="zh-CN" sz="1600" spc="-1" strike="noStrike">
                <a:solidFill>
                  <a:srgbClr val="31404a"/>
                </a:solidFill>
                <a:latin typeface="Microsoft YaHei"/>
                <a:ea typeface="Microsoft YaHei"/>
              </a:rPr>
              <a:t>视觉可通行性与实物部署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2167200" y="4852800"/>
            <a:ext cx="3528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"/>
          <p:cNvSpPr/>
          <p:nvPr/>
        </p:nvSpPr>
        <p:spPr>
          <a:xfrm>
            <a:off x="2520000" y="4179600"/>
            <a:ext cx="0" cy="134640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"/>
          <p:cNvSpPr/>
          <p:nvPr/>
        </p:nvSpPr>
        <p:spPr>
          <a:xfrm>
            <a:off x="2520000" y="4179600"/>
            <a:ext cx="2880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"/>
          <p:cNvSpPr/>
          <p:nvPr/>
        </p:nvSpPr>
        <p:spPr>
          <a:xfrm>
            <a:off x="2520000" y="4852800"/>
            <a:ext cx="2880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"/>
          <p:cNvSpPr/>
          <p:nvPr/>
        </p:nvSpPr>
        <p:spPr>
          <a:xfrm>
            <a:off x="2520000" y="5526000"/>
            <a:ext cx="288000" cy="0"/>
          </a:xfrm>
          <a:prstGeom prst="line">
            <a:avLst/>
          </a:prstGeom>
          <a:ln w="10080">
            <a:solidFill>
              <a:srgbClr val="65778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"/>
          <p:cNvSpPr/>
          <p:nvPr/>
        </p:nvSpPr>
        <p:spPr>
          <a:xfrm>
            <a:off x="4156200" y="4435200"/>
            <a:ext cx="93600" cy="162000"/>
          </a:xfrm>
          <a:custGeom>
            <a:avLst/>
            <a:gdLst/>
            <a:ahLst/>
            <a:rect l="0" t="0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</p:sp>
      <p:sp>
        <p:nvSpPr>
          <p:cNvPr id="148" name=""/>
          <p:cNvSpPr/>
          <p:nvPr/>
        </p:nvSpPr>
        <p:spPr>
          <a:xfrm>
            <a:off x="4156200" y="5108400"/>
            <a:ext cx="93600" cy="162000"/>
          </a:xfrm>
          <a:custGeom>
            <a:avLst/>
            <a:gdLst/>
            <a:ahLst/>
            <a:rect l="0" t="0" r="r" b="b"/>
            <a:pathLst>
              <a:path w="260" h="450">
                <a:moveTo>
                  <a:pt x="90" y="0"/>
                </a:moveTo>
                <a:lnTo>
                  <a:pt x="170" y="0"/>
                </a:lnTo>
                <a:lnTo>
                  <a:pt x="170" y="280"/>
                </a:lnTo>
                <a:lnTo>
                  <a:pt x="260" y="280"/>
                </a:lnTo>
                <a:lnTo>
                  <a:pt x="130" y="450"/>
                </a:lnTo>
                <a:lnTo>
                  <a:pt x="0" y="280"/>
                </a:lnTo>
                <a:lnTo>
                  <a:pt x="90" y="280"/>
                </a:lnTo>
                <a:lnTo>
                  <a:pt x="9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</p:sp>
      <p:sp>
        <p:nvSpPr>
          <p:cNvPr id="149" name=""/>
          <p:cNvSpPr/>
          <p:nvPr/>
        </p:nvSpPr>
        <p:spPr>
          <a:xfrm>
            <a:off x="5893200" y="1922400"/>
            <a:ext cx="405720" cy="223200"/>
          </a:xfrm>
          <a:custGeom>
            <a:avLst/>
            <a:gdLst/>
            <a:ahLst/>
            <a:rect l="0" t="0" r="r" b="b"/>
            <a:pathLst>
              <a:path w="1127" h="620">
                <a:moveTo>
                  <a:pt x="0" y="220"/>
                </a:moveTo>
                <a:lnTo>
                  <a:pt x="607" y="220"/>
                </a:lnTo>
                <a:lnTo>
                  <a:pt x="607" y="0"/>
                </a:lnTo>
                <a:lnTo>
                  <a:pt x="1127" y="310"/>
                </a:lnTo>
                <a:lnTo>
                  <a:pt x="607" y="620"/>
                </a:lnTo>
                <a:lnTo>
                  <a:pt x="607" y="400"/>
                </a:lnTo>
                <a:lnTo>
                  <a:pt x="0" y="400"/>
                </a:lnTo>
                <a:lnTo>
                  <a:pt x="0" y="22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</p:sp>
      <p:sp>
        <p:nvSpPr>
          <p:cNvPr id="150" name=""/>
          <p:cNvSpPr/>
          <p:nvPr/>
        </p:nvSpPr>
        <p:spPr>
          <a:xfrm>
            <a:off x="8993520" y="3308400"/>
            <a:ext cx="223200" cy="270000"/>
          </a:xfrm>
          <a:custGeom>
            <a:avLst/>
            <a:gdLst/>
            <a:ahLst/>
            <a:rect l="0" t="0" r="r" b="b"/>
            <a:pathLst>
              <a:path w="620" h="750">
                <a:moveTo>
                  <a:pt x="220" y="0"/>
                </a:moveTo>
                <a:lnTo>
                  <a:pt x="400" y="0"/>
                </a:lnTo>
                <a:lnTo>
                  <a:pt x="400" y="230"/>
                </a:lnTo>
                <a:lnTo>
                  <a:pt x="620" y="230"/>
                </a:lnTo>
                <a:lnTo>
                  <a:pt x="310" y="750"/>
                </a:lnTo>
                <a:lnTo>
                  <a:pt x="0" y="230"/>
                </a:lnTo>
                <a:lnTo>
                  <a:pt x="220" y="230"/>
                </a:lnTo>
                <a:lnTo>
                  <a:pt x="220" y="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</p:sp>
      <p:sp>
        <p:nvSpPr>
          <p:cNvPr id="151" name=""/>
          <p:cNvSpPr/>
          <p:nvPr/>
        </p:nvSpPr>
        <p:spPr>
          <a:xfrm>
            <a:off x="5893200" y="4741200"/>
            <a:ext cx="405720" cy="223200"/>
          </a:xfrm>
          <a:custGeom>
            <a:avLst/>
            <a:gdLst/>
            <a:ahLst/>
            <a:rect l="0" t="0" r="r" b="b"/>
            <a:pathLst>
              <a:path w="1127" h="620">
                <a:moveTo>
                  <a:pt x="1127" y="220"/>
                </a:moveTo>
                <a:lnTo>
                  <a:pt x="520" y="220"/>
                </a:lnTo>
                <a:lnTo>
                  <a:pt x="520" y="0"/>
                </a:lnTo>
                <a:lnTo>
                  <a:pt x="0" y="310"/>
                </a:lnTo>
                <a:lnTo>
                  <a:pt x="520" y="620"/>
                </a:lnTo>
                <a:lnTo>
                  <a:pt x="520" y="400"/>
                </a:lnTo>
                <a:lnTo>
                  <a:pt x="1127" y="400"/>
                </a:lnTo>
                <a:lnTo>
                  <a:pt x="1127" y="220"/>
                </a:lnTo>
                <a:close/>
              </a:path>
            </a:pathLst>
          </a:custGeom>
          <a:solidFill>
            <a:srgbClr val="9dc3e6"/>
          </a:solidFill>
          <a:ln w="8640">
            <a:solidFill>
              <a:srgbClr val="7f9db9"/>
            </a:solidFill>
            <a:round/>
          </a:ln>
        </p:spPr>
      </p:sp>
      <p:sp>
        <p:nvSpPr>
          <p:cNvPr id="152" name=""/>
          <p:cNvSpPr txBox="1"/>
          <p:nvPr/>
        </p:nvSpPr>
        <p:spPr>
          <a:xfrm>
            <a:off x="432000" y="6624000"/>
            <a:ext cx="11304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 anchorCtr="1">
            <a:noAutofit/>
          </a:bodyPr>
          <a:p>
            <a:pPr algn="ctr">
              <a:buNone/>
            </a:pPr>
            <a:r>
              <a:rPr b="0" lang="zh-CN" sz="95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第三章：几何规划    第四章：视觉可通行性    第五章：</a:t>
            </a:r>
            <a:r>
              <a:rPr b="0" lang="en-US" sz="95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Go2</a:t>
            </a:r>
            <a:r>
              <a:rPr b="0" lang="zh-CN" sz="950" spc="-1" strike="noStrike">
                <a:solidFill>
                  <a:srgbClr val="657786"/>
                </a:solidFill>
                <a:latin typeface="Microsoft YaHei"/>
                <a:ea typeface="Microsoft YaHei"/>
              </a:rPr>
              <a:t>实物系统</a:t>
            </a:r>
            <a:endParaRPr b="0" lang="en-US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2026-09-27T17:53:11Z</dcterms:modified>
  <cp:revision>1</cp:revision>
  <dc:subject/>
  <dc:title/>
</cp:coreProperties>
</file>