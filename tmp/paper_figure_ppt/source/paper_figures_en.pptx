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69" r:id="rId3"/>
    <p:sldId id="256" r:id="rId4"/>
    <p:sldId id="262" r:id="rId5"/>
    <p:sldId id="266" r:id="rId6"/>
    <p:sldId id="271" r:id="rId7"/>
    <p:sldId id="264" r:id="rId8"/>
    <p:sldId id="257" r:id="rId9"/>
    <p:sldId id="273" r:id="rId10"/>
    <p:sldId id="261" r:id="rId11"/>
  </p:sldIdLst>
  <p:sldSz cx="12192000" cy="6858000"/>
  <p:notesSz cx="7104380" cy="10234930"/>
  <p:custDataLst>
    <p:tags r:id="rId18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itchFamily="34" charset="0"/>
        <a:ea typeface="宋体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itchFamily="34" charset="0"/>
        <a:ea typeface="宋体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itchFamily="34" charset="0"/>
        <a:ea typeface="宋体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2" userDrawn="1">
          <p15:clr>
            <a:srgbClr val="A4A3A4"/>
          </p15:clr>
        </p15:guide>
        <p15:guide id="2" pos="386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哲 惠" initials="哲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E3F2D9"/>
    <a:srgbClr val="202020"/>
    <a:srgbClr val="323232"/>
    <a:srgbClr val="CC3300"/>
    <a:srgbClr val="CC0000"/>
    <a:srgbClr val="FF3300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2278"/>
    <p:restoredTop sz="94607"/>
  </p:normalViewPr>
  <p:slideViewPr>
    <p:cSldViewPr snapToGrid="0" showGuides="1">
      <p:cViewPr varScale="1">
        <p:scale>
          <a:sx n="108" d="100"/>
          <a:sy n="108" d="100"/>
        </p:scale>
        <p:origin x="660" y="102"/>
      </p:cViewPr>
      <p:guideLst>
        <p:guide orient="horz" pos="2162"/>
        <p:guide pos="386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1999" cy="71999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1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defRPr sz="1245" noProof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45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defRPr sz="1245" noProof="1"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81A3282-DC09-4DDE-AD0D-AF9AF8615577}" type="datetimeFigureOut">
              <a:rPr kumimoji="0" lang="zh-CN" altLang="en-US" sz="1245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45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263"/>
            <a:ext cx="3078163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defRPr sz="1245" noProof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45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4313" y="9720263"/>
            <a:ext cx="3078163" cy="5143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defRPr sz="1200" noProof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defRPr sz="1200" noProof="1"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8A2570D-7AAB-43B4-B7E1-7BB06FB3A42B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52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77" name="备注占位符 4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defRPr sz="1200" noProof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3" cy="5127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>
                <a:latin typeface="宋体" pitchFamily="2" charset="-122"/>
              </a:rPr>
            </a:fld>
            <a:endParaRPr lang="zh-CN" altLang="en-US" sz="1200" dirty="0">
              <a:latin typeface="宋体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3DC80FB-AD60-4C50-9E6A-19374872AC22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itchFamily="34" charset="0"/>
              </a:rPr>
            </a:fld>
            <a:endParaRPr lang="zh-CN" altLang="en-US" dirty="0"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3DC80FB-AD60-4C50-9E6A-19374872AC22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itchFamily="34" charset="0"/>
              </a:rPr>
            </a:fld>
            <a:endParaRPr lang="zh-CN" altLang="en-US" dirty="0"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3DC80FB-AD60-4C50-9E6A-19374872AC22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itchFamily="34" charset="0"/>
              </a:rPr>
            </a:fld>
            <a:endParaRPr lang="zh-CN" altLang="en-US" dirty="0"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3DC80FB-AD60-4C50-9E6A-19374872AC22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itchFamily="34" charset="0"/>
              </a:rPr>
            </a:fld>
            <a:endParaRPr lang="zh-CN" altLang="en-US" dirty="0"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3DC80FB-AD60-4C50-9E6A-19374872AC22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itchFamily="34" charset="0"/>
              </a:rPr>
            </a:fld>
            <a:endParaRPr lang="zh-CN" altLang="en-US" dirty="0"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3DC80FB-AD60-4C50-9E6A-19374872AC22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itchFamily="34" charset="0"/>
              </a:rPr>
            </a:fld>
            <a:endParaRPr lang="zh-CN" altLang="en-US" dirty="0"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3DC80FB-AD60-4C50-9E6A-19374872AC22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itchFamily="34" charset="0"/>
              </a:rPr>
            </a:fld>
            <a:endParaRPr lang="zh-CN" altLang="en-US" dirty="0"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3DC80FB-AD60-4C50-9E6A-19374872AC22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itchFamily="34" charset="0"/>
              </a:rPr>
            </a:fld>
            <a:endParaRPr lang="zh-CN" altLang="en-US" dirty="0"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3DC80FB-AD60-4C50-9E6A-19374872AC22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itchFamily="34" charset="0"/>
              </a:rPr>
            </a:fld>
            <a:endParaRPr lang="zh-CN" altLang="en-US" dirty="0"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3DC80FB-AD60-4C50-9E6A-19374872AC22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itchFamily="34" charset="0"/>
              </a:rPr>
            </a:fld>
            <a:endParaRPr lang="zh-CN" altLang="en-US" dirty="0"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eaLnBrk="1" fontAlgn="auto" hangingPunct="1">
              <a:defRPr sz="120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3DC80FB-AD60-4C50-9E6A-19374872AC22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eaLnBrk="1" fontAlgn="auto" hangingPunct="1">
              <a:defRPr sz="12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itchFamily="34" charset="0"/>
              </a:rPr>
            </a:fld>
            <a:endParaRPr lang="zh-CN" altLang="en-US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8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8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8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7.wmf"/><Relationship Id="rId7" Type="http://schemas.openxmlformats.org/officeDocument/2006/relationships/oleObject" Target="../embeddings/oleObject1.bin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0" Type="http://schemas.openxmlformats.org/officeDocument/2006/relationships/vmlDrawing" Target="../drawings/vmlDrawing1.vml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2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2.wmf"/><Relationship Id="rId6" Type="http://schemas.openxmlformats.org/officeDocument/2006/relationships/oleObject" Target="../embeddings/oleObject2.bin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1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33.png"/><Relationship Id="rId7" Type="http://schemas.openxmlformats.org/officeDocument/2006/relationships/image" Target="../media/image32.png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5.png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文本框 10"/>
          <p:cNvSpPr txBox="1"/>
          <p:nvPr/>
        </p:nvSpPr>
        <p:spPr>
          <a:xfrm>
            <a:off x="2565400" y="2947988"/>
            <a:ext cx="444500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(a)</a:t>
            </a:r>
            <a:endParaRPr lang="zh-CN" altLang="en-US" sz="1400" dirty="0">
              <a:latin typeface="Times New Roman" pitchFamily="18" charset="0"/>
              <a:ea typeface="Times New Roman" pitchFamily="18" charset="0"/>
            </a:endParaRPr>
          </a:p>
        </p:txBody>
      </p:sp>
      <p:sp>
        <p:nvSpPr>
          <p:cNvPr id="4099" name="文本框 11"/>
          <p:cNvSpPr txBox="1"/>
          <p:nvPr/>
        </p:nvSpPr>
        <p:spPr>
          <a:xfrm>
            <a:off x="6418263" y="2947988"/>
            <a:ext cx="479425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(b)</a:t>
            </a:r>
            <a:endParaRPr lang="zh-CN" altLang="en-US" sz="1400" dirty="0">
              <a:latin typeface="Times New Roman" pitchFamily="18" charset="0"/>
              <a:ea typeface="Times New Roman" pitchFamily="18" charset="0"/>
            </a:endParaRPr>
          </a:p>
        </p:txBody>
      </p:sp>
      <p:sp>
        <p:nvSpPr>
          <p:cNvPr id="4104" name="文本框 10"/>
          <p:cNvSpPr txBox="1"/>
          <p:nvPr/>
        </p:nvSpPr>
        <p:spPr>
          <a:xfrm>
            <a:off x="2565400" y="5921375"/>
            <a:ext cx="444500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(a)</a:t>
            </a:r>
            <a:endParaRPr lang="zh-CN" altLang="en-US" sz="1400" dirty="0">
              <a:latin typeface="Times New Roman" pitchFamily="18" charset="0"/>
              <a:ea typeface="Times New Roman" pitchFamily="18" charset="0"/>
            </a:endParaRPr>
          </a:p>
        </p:txBody>
      </p:sp>
      <p:sp>
        <p:nvSpPr>
          <p:cNvPr id="4105" name="文本框 11"/>
          <p:cNvSpPr txBox="1"/>
          <p:nvPr/>
        </p:nvSpPr>
        <p:spPr>
          <a:xfrm>
            <a:off x="6418263" y="5921375"/>
            <a:ext cx="479425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(b)</a:t>
            </a:r>
            <a:endParaRPr lang="zh-CN" altLang="en-US" sz="1400" dirty="0">
              <a:latin typeface="Times New Roman" pitchFamily="18" charset="0"/>
              <a:ea typeface="Times New Roman" pitchFamily="18" charset="0"/>
            </a:endParaRPr>
          </a:p>
        </p:txBody>
      </p:sp>
      <p:pic>
        <p:nvPicPr>
          <p:cNvPr id="4" name="图片 3" descr="planning_time_Obstacle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220" y="3256280"/>
            <a:ext cx="3445200" cy="2756160"/>
          </a:xfrm>
          <a:prstGeom prst="rect">
            <a:avLst/>
          </a:prstGeom>
        </p:spPr>
      </p:pic>
      <p:pic>
        <p:nvPicPr>
          <p:cNvPr id="5" name="图片 4" descr="smoothness_Obstacl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1080" y="3256280"/>
            <a:ext cx="3445200" cy="2756160"/>
          </a:xfrm>
          <a:prstGeom prst="rect">
            <a:avLst/>
          </a:prstGeom>
        </p:spPr>
      </p:pic>
      <p:pic>
        <p:nvPicPr>
          <p:cNvPr id="6" name="图片 5" descr="planning_time_Heigh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20" y="192405"/>
            <a:ext cx="3445200" cy="2756160"/>
          </a:xfrm>
          <a:prstGeom prst="rect">
            <a:avLst/>
          </a:prstGeom>
        </p:spPr>
      </p:pic>
      <p:pic>
        <p:nvPicPr>
          <p:cNvPr id="7" name="图片 6" descr="smoothness_Heigh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1080" y="192405"/>
            <a:ext cx="3445200" cy="2756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8" name="文本框 10"/>
          <p:cNvSpPr txBox="1"/>
          <p:nvPr/>
        </p:nvSpPr>
        <p:spPr>
          <a:xfrm>
            <a:off x="2565083" y="6039168"/>
            <a:ext cx="444500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(a)</a:t>
            </a:r>
            <a:endParaRPr lang="zh-CN" altLang="en-US" sz="1400" dirty="0">
              <a:latin typeface="Times New Roman" pitchFamily="18" charset="0"/>
              <a:ea typeface="Times New Roman" pitchFamily="18" charset="0"/>
            </a:endParaRPr>
          </a:p>
        </p:txBody>
      </p:sp>
      <p:sp>
        <p:nvSpPr>
          <p:cNvPr id="5129" name="文本框 11"/>
          <p:cNvSpPr txBox="1"/>
          <p:nvPr/>
        </p:nvSpPr>
        <p:spPr>
          <a:xfrm>
            <a:off x="6418580" y="6039168"/>
            <a:ext cx="479425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(b)</a:t>
            </a:r>
            <a:endParaRPr lang="zh-CN" altLang="en-US" sz="1400" dirty="0">
              <a:latin typeface="Times New Roman" pitchFamily="18" charset="0"/>
              <a:ea typeface="Times New Roman" pitchFamily="18" charset="0"/>
            </a:endParaRPr>
          </a:p>
        </p:txBody>
      </p:sp>
      <p:sp>
        <p:nvSpPr>
          <p:cNvPr id="4104" name="文本框 10"/>
          <p:cNvSpPr txBox="1"/>
          <p:nvPr/>
        </p:nvSpPr>
        <p:spPr>
          <a:xfrm>
            <a:off x="2565400" y="2988945"/>
            <a:ext cx="444500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(a)</a:t>
            </a:r>
            <a:endParaRPr lang="zh-CN" altLang="en-US" sz="1400" dirty="0">
              <a:latin typeface="Times New Roman" pitchFamily="18" charset="0"/>
              <a:ea typeface="Times New Roman" pitchFamily="18" charset="0"/>
            </a:endParaRPr>
          </a:p>
        </p:txBody>
      </p:sp>
      <p:sp>
        <p:nvSpPr>
          <p:cNvPr id="4105" name="文本框 11"/>
          <p:cNvSpPr txBox="1"/>
          <p:nvPr/>
        </p:nvSpPr>
        <p:spPr>
          <a:xfrm>
            <a:off x="6418263" y="2988945"/>
            <a:ext cx="479425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(b)</a:t>
            </a:r>
            <a:endParaRPr lang="zh-CN" altLang="en-US" sz="1400" dirty="0">
              <a:latin typeface="Times New Roman" pitchFamily="18" charset="0"/>
              <a:ea typeface="Times New Roman" pitchFamily="18" charset="0"/>
            </a:endParaRPr>
          </a:p>
        </p:txBody>
      </p:sp>
      <p:pic>
        <p:nvPicPr>
          <p:cNvPr id="4" name="图片 3" descr="planning_time_Obstacle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220" y="323850"/>
            <a:ext cx="3445200" cy="2756160"/>
          </a:xfrm>
          <a:prstGeom prst="rect">
            <a:avLst/>
          </a:prstGeom>
        </p:spPr>
      </p:pic>
      <p:pic>
        <p:nvPicPr>
          <p:cNvPr id="5" name="图片 4" descr="smoothness_Obstacl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1080" y="323850"/>
            <a:ext cx="3445200" cy="2756160"/>
          </a:xfrm>
          <a:prstGeom prst="rect">
            <a:avLst/>
          </a:prstGeom>
        </p:spPr>
      </p:pic>
      <p:pic>
        <p:nvPicPr>
          <p:cNvPr id="2" name="图片 1" descr="planning_time_Sl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20" y="3221355"/>
            <a:ext cx="3445200" cy="2756160"/>
          </a:xfrm>
          <a:prstGeom prst="rect">
            <a:avLst/>
          </a:prstGeom>
        </p:spPr>
      </p:pic>
      <p:pic>
        <p:nvPicPr>
          <p:cNvPr id="3" name="图片 2" descr="smoothness_Slop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1080" y="3221355"/>
            <a:ext cx="3445200" cy="2756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146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150" y="628650"/>
            <a:ext cx="3644900" cy="20685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48" name="图片 1" descr="截图 2026-04-24 14-41-24"/>
          <p:cNvPicPr>
            <a:picLocks noChangeAspect="1"/>
          </p:cNvPicPr>
          <p:nvPr/>
        </p:nvPicPr>
        <p:blipFill>
          <a:blip r:embed="rId2"/>
          <a:srcRect l="2885" t="9074" r="18079" b="11353"/>
          <a:stretch>
            <a:fillRect/>
          </a:stretch>
        </p:blipFill>
        <p:spPr>
          <a:xfrm>
            <a:off x="8247063" y="628650"/>
            <a:ext cx="3643312" cy="2070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9" name="文本框 2"/>
          <p:cNvSpPr txBox="1"/>
          <p:nvPr/>
        </p:nvSpPr>
        <p:spPr>
          <a:xfrm>
            <a:off x="1260475" y="2903538"/>
            <a:ext cx="2163763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(a)</a:t>
            </a:r>
            <a:r>
              <a:rPr lang="en-US" altLang="zh-CN" sz="1800" dirty="0">
                <a:latin typeface="宋体" pitchFamily="2" charset="-122"/>
              </a:rPr>
              <a:t> </a:t>
            </a:r>
            <a:r>
              <a:rPr lang="en-US" altLang="zh-CN" sz="1800" dirty="0"/>
              <a:t>Rough Slopes</a:t>
            </a:r>
            <a:endParaRPr lang="en-US" altLang="zh-CN" sz="1800" dirty="0"/>
          </a:p>
        </p:txBody>
      </p:sp>
      <p:sp>
        <p:nvSpPr>
          <p:cNvPr id="6150" name="文本框 3"/>
          <p:cNvSpPr txBox="1"/>
          <p:nvPr/>
        </p:nvSpPr>
        <p:spPr>
          <a:xfrm>
            <a:off x="5124450" y="2903855"/>
            <a:ext cx="233870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(b) </a:t>
            </a:r>
            <a:r>
              <a:rPr lang="en-US" altLang="zh-CN" sz="1800" dirty="0"/>
              <a:t>Discrete Obstacles</a:t>
            </a:r>
            <a:endParaRPr lang="en-US" altLang="zh-CN" sz="1800" dirty="0"/>
          </a:p>
        </p:txBody>
      </p:sp>
      <p:sp>
        <p:nvSpPr>
          <p:cNvPr id="6151" name="文本框 4"/>
          <p:cNvSpPr txBox="1"/>
          <p:nvPr/>
        </p:nvSpPr>
        <p:spPr>
          <a:xfrm>
            <a:off x="8987155" y="2903855"/>
            <a:ext cx="252603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(c) </a:t>
            </a:r>
            <a:r>
              <a:rPr lang="en-US" altLang="zh-CN" sz="1800" dirty="0">
                <a:sym typeface="+mn-ea"/>
              </a:rPr>
              <a:t>Rough Flat</a:t>
            </a:r>
            <a:endParaRPr lang="en-US" altLang="zh-CN" sz="1800" dirty="0"/>
          </a:p>
        </p:txBody>
      </p:sp>
      <p:pic>
        <p:nvPicPr>
          <p:cNvPr id="3" name="图片 2" descr="截图 2026-06-24 23-27-01"/>
          <p:cNvPicPr>
            <a:picLocks noChangeAspect="1"/>
          </p:cNvPicPr>
          <p:nvPr/>
        </p:nvPicPr>
        <p:blipFill>
          <a:blip r:embed="rId3"/>
          <a:srcRect l="19515" t="19797" r="15646" b="15171"/>
          <a:stretch>
            <a:fillRect/>
          </a:stretch>
        </p:blipFill>
        <p:spPr>
          <a:xfrm>
            <a:off x="4344670" y="628650"/>
            <a:ext cx="3641090" cy="2068830"/>
          </a:xfrm>
          <a:prstGeom prst="rect">
            <a:avLst/>
          </a:prstGeom>
        </p:spPr>
      </p:pic>
      <p:pic>
        <p:nvPicPr>
          <p:cNvPr id="4" name="图片 1" descr="Figure_1"/>
          <p:cNvPicPr/>
          <p:nvPr/>
        </p:nvPicPr>
        <p:blipFill>
          <a:blip r:embed="rId4"/>
          <a:srcRect l="28635" t="35391" r="25601" b="21455"/>
          <a:stretch>
            <a:fillRect/>
          </a:stretch>
        </p:blipFill>
        <p:spPr>
          <a:xfrm>
            <a:off x="5162550" y="3887788"/>
            <a:ext cx="2163763" cy="2068512"/>
          </a:xfrm>
          <a:prstGeom prst="rect">
            <a:avLst/>
          </a:prstGeom>
          <a:noFill/>
          <a:ln w="9525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5" name="图片 4" descr="Figure_2"/>
          <p:cNvPicPr/>
          <p:nvPr/>
        </p:nvPicPr>
        <p:blipFill>
          <a:blip r:embed="rId5"/>
          <a:srcRect l="13174" t="12444" r="53320" b="12425"/>
          <a:stretch>
            <a:fillRect/>
          </a:stretch>
        </p:blipFill>
        <p:spPr>
          <a:xfrm>
            <a:off x="7904163" y="3886200"/>
            <a:ext cx="2163762" cy="2070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2"/>
          <p:cNvSpPr txBox="1"/>
          <p:nvPr/>
        </p:nvSpPr>
        <p:spPr>
          <a:xfrm>
            <a:off x="5505450" y="5956300"/>
            <a:ext cx="182181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(a)</a:t>
            </a:r>
            <a:r>
              <a:rPr lang="en-US" altLang="zh-CN" sz="1800" dirty="0">
                <a:latin typeface="宋体" pitchFamily="2" charset="-122"/>
              </a:rPr>
              <a:t> </a:t>
            </a:r>
            <a:r>
              <a:rPr lang="en-US" altLang="zh-CN" sz="1800" dirty="0"/>
              <a:t>Depth Image</a:t>
            </a:r>
            <a:endParaRPr lang="en-US" altLang="zh-CN" sz="1800" dirty="0"/>
          </a:p>
        </p:txBody>
      </p:sp>
      <p:sp>
        <p:nvSpPr>
          <p:cNvPr id="7" name="文本框 2"/>
          <p:cNvSpPr txBox="1"/>
          <p:nvPr/>
        </p:nvSpPr>
        <p:spPr>
          <a:xfrm>
            <a:off x="8239125" y="5956300"/>
            <a:ext cx="193738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(b)</a:t>
            </a:r>
            <a:r>
              <a:rPr lang="en-US" altLang="zh-CN" sz="1800" dirty="0">
                <a:latin typeface="宋体" pitchFamily="2" charset="-122"/>
              </a:rPr>
              <a:t> </a:t>
            </a:r>
            <a:r>
              <a:rPr lang="en-US" altLang="zh-CN" sz="1800" dirty="0"/>
              <a:t>BEV Image</a:t>
            </a:r>
            <a:endParaRPr lang="en-US" altLang="zh-CN" sz="1800" dirty="0"/>
          </a:p>
        </p:txBody>
      </p:sp>
      <p:pic>
        <p:nvPicPr>
          <p:cNvPr id="12" name="图片 6"/>
          <p:cNvPicPr>
            <a:picLocks noChangeAspect="1"/>
          </p:cNvPicPr>
          <p:nvPr/>
        </p:nvPicPr>
        <p:blipFill>
          <a:blip r:embed="rId6"/>
          <a:srcRect b="8092"/>
          <a:stretch>
            <a:fillRect/>
          </a:stretch>
        </p:blipFill>
        <p:spPr>
          <a:xfrm>
            <a:off x="2439988" y="4530725"/>
            <a:ext cx="2309812" cy="1160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箭头: 右 7"/>
          <p:cNvSpPr/>
          <p:nvPr/>
        </p:nvSpPr>
        <p:spPr>
          <a:xfrm>
            <a:off x="4749800" y="4862513"/>
            <a:ext cx="312738" cy="247650"/>
          </a:xfrm>
          <a:prstGeom prst="rightArrow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箭头: 右 8"/>
          <p:cNvSpPr/>
          <p:nvPr/>
        </p:nvSpPr>
        <p:spPr>
          <a:xfrm>
            <a:off x="7462838" y="4862513"/>
            <a:ext cx="312738" cy="247650"/>
          </a:xfrm>
          <a:prstGeom prst="rightArrow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: 圆角 6"/>
          <p:cNvSpPr/>
          <p:nvPr/>
        </p:nvSpPr>
        <p:spPr>
          <a:xfrm>
            <a:off x="52388" y="3898900"/>
            <a:ext cx="3252788" cy="2519363"/>
          </a:xfrm>
          <a:prstGeom prst="round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52388" y="806450"/>
            <a:ext cx="3252788" cy="2738438"/>
          </a:xfrm>
          <a:prstGeom prst="round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3448050" y="806450"/>
            <a:ext cx="4775200" cy="247491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3448050" y="3943350"/>
            <a:ext cx="4632325" cy="247491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174" name="文本框 11"/>
          <p:cNvSpPr txBox="1"/>
          <p:nvPr/>
        </p:nvSpPr>
        <p:spPr>
          <a:xfrm>
            <a:off x="382270" y="1143000"/>
            <a:ext cx="1163955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Times New Roman" pitchFamily="18" charset="0"/>
                <a:ea typeface="Times New Roman" pitchFamily="18" charset="0"/>
              </a:rPr>
              <a:t>Depth Image</a:t>
            </a:r>
            <a:endParaRPr lang="en-US" altLang="zh-CN" sz="1400" dirty="0">
              <a:latin typeface="Times New Roman" pitchFamily="18" charset="0"/>
              <a:ea typeface="Times New Roman" pitchFamily="18" charset="0"/>
            </a:endParaRPr>
          </a:p>
        </p:txBody>
      </p:sp>
      <p:sp>
        <p:nvSpPr>
          <p:cNvPr id="7175" name="文本框 13"/>
          <p:cNvSpPr txBox="1"/>
          <p:nvPr/>
        </p:nvSpPr>
        <p:spPr>
          <a:xfrm>
            <a:off x="4694555" y="438150"/>
            <a:ext cx="257937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Times New Roman" pitchFamily="18" charset="0"/>
                <a:ea typeface="Times New Roman" pitchFamily="18" charset="0"/>
              </a:rPr>
              <a:t>Navigation Controller</a:t>
            </a:r>
            <a:endParaRPr lang="en-US" altLang="zh-CN" sz="1800" dirty="0">
              <a:latin typeface="Times New Roman" pitchFamily="18" charset="0"/>
              <a:ea typeface="Times New Roman" pitchFamily="18" charset="0"/>
            </a:endParaRPr>
          </a:p>
        </p:txBody>
      </p:sp>
      <p:sp>
        <p:nvSpPr>
          <p:cNvPr id="7176" name="文本框 14"/>
          <p:cNvSpPr txBox="1"/>
          <p:nvPr/>
        </p:nvSpPr>
        <p:spPr>
          <a:xfrm>
            <a:off x="4932045" y="3575050"/>
            <a:ext cx="203835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Times New Roman" pitchFamily="18" charset="0"/>
                <a:ea typeface="Times New Roman" pitchFamily="18" charset="0"/>
              </a:rPr>
              <a:t>Gait Controller</a:t>
            </a:r>
            <a:endParaRPr lang="en-US" altLang="zh-CN" sz="1800" dirty="0">
              <a:latin typeface="Times New Roman" pitchFamily="18" charset="0"/>
              <a:ea typeface="Times New Roman" pitchFamily="18" charset="0"/>
            </a:endParaRPr>
          </a:p>
        </p:txBody>
      </p:sp>
      <p:pic>
        <p:nvPicPr>
          <p:cNvPr id="7177" name="图片 3" descr="Figure_1"/>
          <p:cNvPicPr/>
          <p:nvPr/>
        </p:nvPicPr>
        <p:blipFill>
          <a:blip r:embed="rId1"/>
          <a:srcRect l="13261" t="22325" r="10904" b="21455"/>
          <a:stretch>
            <a:fillRect/>
          </a:stretch>
        </p:blipFill>
        <p:spPr>
          <a:xfrm>
            <a:off x="1604963" y="900113"/>
            <a:ext cx="1470025" cy="7683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7178" name="文本框 23"/>
          <p:cNvSpPr txBox="1"/>
          <p:nvPr/>
        </p:nvSpPr>
        <p:spPr>
          <a:xfrm>
            <a:off x="267970" y="1922780"/>
            <a:ext cx="127825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Times New Roman" pitchFamily="18" charset="0"/>
                <a:ea typeface="Times New Roman" pitchFamily="18" charset="0"/>
              </a:rPr>
              <a:t>Quadruped Heading</a:t>
            </a:r>
            <a:endParaRPr lang="en-US" altLang="zh-CN" sz="1400" dirty="0">
              <a:latin typeface="Times New Roman" pitchFamily="18" charset="0"/>
              <a:ea typeface="Times New Roman" pitchFamily="18" charset="0"/>
            </a:endParaRPr>
          </a:p>
        </p:txBody>
      </p:sp>
      <p:cxnSp>
        <p:nvCxnSpPr>
          <p:cNvPr id="28" name="直接箭头连接符 27"/>
          <p:cNvCxnSpPr/>
          <p:nvPr/>
        </p:nvCxnSpPr>
        <p:spPr>
          <a:xfrm>
            <a:off x="3082925" y="1311275"/>
            <a:ext cx="10128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流程图: 手动操作 34"/>
          <p:cNvSpPr/>
          <p:nvPr/>
        </p:nvSpPr>
        <p:spPr>
          <a:xfrm rot="16200000">
            <a:off x="4139406" y="1088231"/>
            <a:ext cx="661988" cy="762000"/>
          </a:xfrm>
          <a:prstGeom prst="flowChartManualOperatio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181" name="文本框 36"/>
          <p:cNvSpPr txBox="1"/>
          <p:nvPr/>
        </p:nvSpPr>
        <p:spPr>
          <a:xfrm>
            <a:off x="4057650" y="1211580"/>
            <a:ext cx="85788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200" dirty="0">
                <a:latin typeface="Times New Roman" pitchFamily="18" charset="0"/>
                <a:ea typeface="Times New Roman" pitchFamily="18" charset="0"/>
              </a:rPr>
              <a:t>D-BEV Projection</a:t>
            </a:r>
            <a:endParaRPr lang="en-US" altLang="zh-CN" sz="1200" dirty="0">
              <a:latin typeface="Times New Roman" pitchFamily="18" charset="0"/>
              <a:ea typeface="Times New Roman" pitchFamily="18" charset="0"/>
            </a:endParaRPr>
          </a:p>
        </p:txBody>
      </p:sp>
      <p:sp>
        <p:nvSpPr>
          <p:cNvPr id="40" name="流程图: 手动操作 39"/>
          <p:cNvSpPr/>
          <p:nvPr/>
        </p:nvSpPr>
        <p:spPr>
          <a:xfrm rot="16200000">
            <a:off x="4118769" y="2310606"/>
            <a:ext cx="661988" cy="708025"/>
          </a:xfrm>
          <a:prstGeom prst="flowChartManualOperatio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183" name="文本框 38"/>
          <p:cNvSpPr txBox="1"/>
          <p:nvPr/>
        </p:nvSpPr>
        <p:spPr>
          <a:xfrm>
            <a:off x="4072890" y="2444750"/>
            <a:ext cx="71691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200" dirty="0">
                <a:latin typeface="Times New Roman" pitchFamily="18" charset="0"/>
                <a:ea typeface="Times New Roman" pitchFamily="18" charset="0"/>
              </a:rPr>
              <a:t>State Parsing</a:t>
            </a:r>
            <a:endParaRPr lang="en-US" altLang="zh-CN" sz="1200" dirty="0">
              <a:latin typeface="Times New Roman" pitchFamily="18" charset="0"/>
              <a:ea typeface="Times New Roman" pitchFamily="18" charset="0"/>
            </a:endParaRPr>
          </a:p>
        </p:txBody>
      </p:sp>
      <p:cxnSp>
        <p:nvCxnSpPr>
          <p:cNvPr id="41" name="直接箭头连接符 40"/>
          <p:cNvCxnSpPr/>
          <p:nvPr/>
        </p:nvCxnSpPr>
        <p:spPr>
          <a:xfrm>
            <a:off x="3082925" y="2444750"/>
            <a:ext cx="10128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>
            <a:stCxn id="35" idx="2"/>
          </p:cNvCxnSpPr>
          <p:nvPr/>
        </p:nvCxnSpPr>
        <p:spPr>
          <a:xfrm>
            <a:off x="4851400" y="1468438"/>
            <a:ext cx="182563" cy="15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86" name="文本框 6158"/>
          <p:cNvSpPr txBox="1"/>
          <p:nvPr/>
        </p:nvSpPr>
        <p:spPr>
          <a:xfrm>
            <a:off x="6299200" y="862965"/>
            <a:ext cx="1505585" cy="2755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200" dirty="0">
                <a:latin typeface="Times New Roman" pitchFamily="18" charset="0"/>
                <a:ea typeface="Times New Roman" pitchFamily="18" charset="0"/>
              </a:rPr>
              <a:t>Trajectory Planning</a:t>
            </a:r>
            <a:endParaRPr lang="en-US" altLang="zh-CN" sz="1200" dirty="0">
              <a:latin typeface="Times New Roman" pitchFamily="18" charset="0"/>
              <a:ea typeface="Times New Roman" pitchFamily="18" charset="0"/>
            </a:endParaRPr>
          </a:p>
        </p:txBody>
      </p:sp>
      <p:cxnSp>
        <p:nvCxnSpPr>
          <p:cNvPr id="6163" name="连接符: 肘形 6162"/>
          <p:cNvCxnSpPr>
            <a:stCxn id="6172" idx="3"/>
            <a:endCxn id="7183" idx="3"/>
          </p:cNvCxnSpPr>
          <p:nvPr/>
        </p:nvCxnSpPr>
        <p:spPr>
          <a:xfrm flipH="1">
            <a:off x="4789805" y="1470660"/>
            <a:ext cx="1238885" cy="1204595"/>
          </a:xfrm>
          <a:prstGeom prst="bentConnector3">
            <a:avLst>
              <a:gd name="adj1" fmla="val -6868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64" name="直接箭头连接符 6163"/>
          <p:cNvCxnSpPr/>
          <p:nvPr/>
        </p:nvCxnSpPr>
        <p:spPr>
          <a:xfrm flipV="1">
            <a:off x="6113463" y="2006600"/>
            <a:ext cx="185738" cy="31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72" name="矩形: 圆角 6171"/>
          <p:cNvSpPr/>
          <p:nvPr/>
        </p:nvSpPr>
        <p:spPr>
          <a:xfrm>
            <a:off x="5026025" y="1268730"/>
            <a:ext cx="1002665" cy="40322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200" dirty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sym typeface="+mn-ea"/>
              </a:rPr>
              <a:t>Temporal Fusion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Times New Roman" pitchFamily="18" charset="0"/>
              <a:cs typeface="Times New Roman" pitchFamily="18" charset="0"/>
              <a:sym typeface="+mn-ea"/>
            </a:endParaRPr>
          </a:p>
        </p:txBody>
      </p:sp>
      <p:sp>
        <p:nvSpPr>
          <p:cNvPr id="6182" name="矩形: 圆角 6181"/>
          <p:cNvSpPr/>
          <p:nvPr/>
        </p:nvSpPr>
        <p:spPr>
          <a:xfrm>
            <a:off x="6299200" y="1184275"/>
            <a:ext cx="1398588" cy="176212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178" name="矩形: 圆角 6177"/>
          <p:cNvSpPr/>
          <p:nvPr/>
        </p:nvSpPr>
        <p:spPr>
          <a:xfrm>
            <a:off x="6464300" y="1373188"/>
            <a:ext cx="1012825" cy="40481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FMM Planner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6177" name="矩形: 圆角 6176"/>
          <p:cNvSpPr/>
          <p:nvPr/>
        </p:nvSpPr>
        <p:spPr>
          <a:xfrm>
            <a:off x="6402705" y="2330450"/>
            <a:ext cx="1200150" cy="40322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Bezier Optimization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cxnSp>
        <p:nvCxnSpPr>
          <p:cNvPr id="6184" name="直接箭头连接符 6183"/>
          <p:cNvCxnSpPr/>
          <p:nvPr/>
        </p:nvCxnSpPr>
        <p:spPr>
          <a:xfrm>
            <a:off x="6970713" y="1785938"/>
            <a:ext cx="0" cy="5445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94" name="文本框 6205"/>
          <p:cNvSpPr txBox="1"/>
          <p:nvPr/>
        </p:nvSpPr>
        <p:spPr>
          <a:xfrm>
            <a:off x="267970" y="4180205"/>
            <a:ext cx="93345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Times New Roman" pitchFamily="18" charset="0"/>
                <a:ea typeface="Times New Roman" pitchFamily="18" charset="0"/>
              </a:rPr>
              <a:t>Historical </a:t>
            </a:r>
            <a:endParaRPr lang="en-US" altLang="zh-CN" sz="1400" dirty="0">
              <a:latin typeface="Times New Roman" pitchFamily="18" charset="0"/>
              <a:ea typeface="Times New Roman" pitchFamily="18" charset="0"/>
            </a:endParaRPr>
          </a:p>
          <a:p>
            <a:pPr marL="0" lvl="0" indent="0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Times New Roman" pitchFamily="18" charset="0"/>
                <a:ea typeface="Times New Roman" pitchFamily="18" charset="0"/>
              </a:rPr>
              <a:t>States </a:t>
            </a:r>
            <a:endParaRPr lang="en-US" altLang="zh-CN" sz="1400" dirty="0">
              <a:latin typeface="Times New Roman" pitchFamily="18" charset="0"/>
              <a:ea typeface="Times New Roman" pitchFamily="18" charset="0"/>
            </a:endParaRPr>
          </a:p>
        </p:txBody>
      </p:sp>
      <p:sp>
        <p:nvSpPr>
          <p:cNvPr id="7195" name="文本框 6207"/>
          <p:cNvSpPr txBox="1"/>
          <p:nvPr/>
        </p:nvSpPr>
        <p:spPr>
          <a:xfrm>
            <a:off x="180975" y="5613400"/>
            <a:ext cx="10699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Times New Roman" pitchFamily="18" charset="0"/>
                <a:ea typeface="Times New Roman" pitchFamily="18" charset="0"/>
              </a:rPr>
              <a:t>Terrain Observation</a:t>
            </a:r>
            <a:endParaRPr lang="en-US" altLang="zh-CN" sz="1400" dirty="0">
              <a:latin typeface="Times New Roman" pitchFamily="18" charset="0"/>
              <a:ea typeface="Times New Roman" pitchFamily="18" charset="0"/>
            </a:endParaRPr>
          </a:p>
        </p:txBody>
      </p:sp>
      <p:pic>
        <p:nvPicPr>
          <p:cNvPr id="7196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425" y="3983038"/>
            <a:ext cx="1355725" cy="76993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6300" name="矩形: 圆角 6299"/>
          <p:cNvSpPr/>
          <p:nvPr/>
        </p:nvSpPr>
        <p:spPr>
          <a:xfrm>
            <a:off x="3836988" y="5043488"/>
            <a:ext cx="936625" cy="40481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State Encoder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cxnSp>
        <p:nvCxnSpPr>
          <p:cNvPr id="6313" name="连接符: 肘形 6312"/>
          <p:cNvCxnSpPr>
            <a:stCxn id="6182" idx="3"/>
            <a:endCxn id="6334" idx="0"/>
          </p:cNvCxnSpPr>
          <p:nvPr/>
        </p:nvCxnSpPr>
        <p:spPr>
          <a:xfrm flipH="1">
            <a:off x="4321175" y="2065338"/>
            <a:ext cx="3376613" cy="2298700"/>
          </a:xfrm>
          <a:prstGeom prst="bentConnector4">
            <a:avLst>
              <a:gd name="adj1" fmla="val -6772"/>
              <a:gd name="adj2" fmla="val 6223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34" name="矩形: 圆角 6333"/>
          <p:cNvSpPr/>
          <p:nvPr/>
        </p:nvSpPr>
        <p:spPr>
          <a:xfrm>
            <a:off x="3854450" y="4364038"/>
            <a:ext cx="935038" cy="40481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6363" name="矩形: 圆角 6362"/>
          <p:cNvSpPr/>
          <p:nvPr/>
        </p:nvSpPr>
        <p:spPr>
          <a:xfrm>
            <a:off x="3784600" y="5659438"/>
            <a:ext cx="1049338" cy="40322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Current State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cxnSp>
        <p:nvCxnSpPr>
          <p:cNvPr id="6371" name="直接箭头连接符 6370"/>
          <p:cNvCxnSpPr>
            <a:endCxn id="6300" idx="1"/>
          </p:cNvCxnSpPr>
          <p:nvPr/>
        </p:nvCxnSpPr>
        <p:spPr>
          <a:xfrm>
            <a:off x="3116263" y="5246688"/>
            <a:ext cx="7207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76" name="矩形: 圆角 6375"/>
          <p:cNvSpPr/>
          <p:nvPr/>
        </p:nvSpPr>
        <p:spPr>
          <a:xfrm>
            <a:off x="5026025" y="4332605"/>
            <a:ext cx="1513840" cy="182753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HIM-PPO Policy Network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cxnSp>
        <p:nvCxnSpPr>
          <p:cNvPr id="6380" name="直接箭头连接符 6379"/>
          <p:cNvCxnSpPr>
            <a:stCxn id="6300" idx="3"/>
            <a:endCxn id="6376" idx="1"/>
          </p:cNvCxnSpPr>
          <p:nvPr/>
        </p:nvCxnSpPr>
        <p:spPr>
          <a:xfrm>
            <a:off x="4774248" y="5246688"/>
            <a:ext cx="25209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82" name="直接箭头连接符 6381"/>
          <p:cNvCxnSpPr>
            <a:stCxn id="6363" idx="3"/>
          </p:cNvCxnSpPr>
          <p:nvPr/>
        </p:nvCxnSpPr>
        <p:spPr>
          <a:xfrm flipV="1">
            <a:off x="4834573" y="5856605"/>
            <a:ext cx="199390" cy="44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84" name="直接箭头连接符 6383"/>
          <p:cNvCxnSpPr>
            <a:stCxn id="6334" idx="3"/>
          </p:cNvCxnSpPr>
          <p:nvPr/>
        </p:nvCxnSpPr>
        <p:spPr>
          <a:xfrm flipV="1">
            <a:off x="4790123" y="4564380"/>
            <a:ext cx="237490" cy="25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94" name="直接箭头连接符 6393"/>
          <p:cNvCxnSpPr>
            <a:stCxn id="6376" idx="3"/>
            <a:endCxn id="6398" idx="1"/>
          </p:cNvCxnSpPr>
          <p:nvPr/>
        </p:nvCxnSpPr>
        <p:spPr>
          <a:xfrm>
            <a:off x="6540183" y="5246688"/>
            <a:ext cx="254000" cy="6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98" name="矩形: 圆角 6397"/>
          <p:cNvSpPr/>
          <p:nvPr/>
        </p:nvSpPr>
        <p:spPr>
          <a:xfrm>
            <a:off x="6793865" y="4718050"/>
            <a:ext cx="1174115" cy="105727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Joint Position Commands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6424" name="箭头: 右 6423"/>
          <p:cNvSpPr/>
          <p:nvPr/>
        </p:nvSpPr>
        <p:spPr>
          <a:xfrm>
            <a:off x="8137525" y="4972050"/>
            <a:ext cx="298450" cy="350838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209" name="图片 5"/>
          <p:cNvPicPr/>
          <p:nvPr/>
        </p:nvPicPr>
        <p:blipFill>
          <a:blip r:embed="rId3"/>
          <a:srcRect l="1595" t="12257" r="1926" b="2629"/>
          <a:stretch>
            <a:fillRect/>
          </a:stretch>
        </p:blipFill>
        <p:spPr>
          <a:xfrm>
            <a:off x="1612900" y="2662238"/>
            <a:ext cx="1470025" cy="7699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210" name="图片 7"/>
          <p:cNvPicPr/>
          <p:nvPr/>
        </p:nvPicPr>
        <p:blipFill>
          <a:blip r:embed="rId4"/>
          <a:srcRect l="2151" t="2615" r="1253" b="17174"/>
          <a:stretch>
            <a:fillRect/>
          </a:stretch>
        </p:blipFill>
        <p:spPr>
          <a:xfrm>
            <a:off x="1612900" y="1784350"/>
            <a:ext cx="1470025" cy="7699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211" name="文本框 9"/>
          <p:cNvSpPr txBox="1"/>
          <p:nvPr/>
        </p:nvSpPr>
        <p:spPr>
          <a:xfrm>
            <a:off x="296863" y="2795905"/>
            <a:ext cx="1262062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Times New Roman" pitchFamily="18" charset="0"/>
                <a:ea typeface="Times New Roman" pitchFamily="18" charset="0"/>
              </a:rPr>
              <a:t>Target Point Information</a:t>
            </a:r>
            <a:endParaRPr lang="en-US" altLang="zh-CN" sz="1400" dirty="0">
              <a:latin typeface="Times New Roman" pitchFamily="18" charset="0"/>
              <a:ea typeface="Times New Roman" pitchFamily="18" charset="0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>
            <a:off x="3076575" y="2854325"/>
            <a:ext cx="10128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213" name="图片 13"/>
          <p:cNvPicPr/>
          <p:nvPr/>
        </p:nvPicPr>
        <p:blipFill>
          <a:blip r:embed="rId5"/>
          <a:srcRect l="27780" t="23653" r="26543" b="21448"/>
          <a:stretch>
            <a:fillRect/>
          </a:stretch>
        </p:blipFill>
        <p:spPr>
          <a:xfrm>
            <a:off x="1258888" y="5272088"/>
            <a:ext cx="1658937" cy="9890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" name="图片 15"/>
          <p:cNvPicPr/>
          <p:nvPr/>
        </p:nvPicPr>
        <p:blipFill>
          <a:blip r:embed="rId6"/>
          <a:srcRect l="19748" t="6093" r="14817" b="11759"/>
          <a:stretch>
            <a:fillRect/>
          </a:stretch>
        </p:blipFill>
        <p:spPr>
          <a:xfrm>
            <a:off x="8470900" y="3745593"/>
            <a:ext cx="3417887" cy="2685878"/>
          </a:xfrm>
          <a:prstGeom prst="roundRect">
            <a:avLst/>
          </a:prstGeom>
        </p:spPr>
      </p:pic>
      <p:pic>
        <p:nvPicPr>
          <p:cNvPr id="721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388" y="4040188"/>
            <a:ext cx="1355725" cy="76993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7216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113" y="4127500"/>
            <a:ext cx="1355725" cy="7683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7217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075" y="4211638"/>
            <a:ext cx="1355725" cy="76993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7218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925" y="4271963"/>
            <a:ext cx="1355725" cy="76993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7219" name="文本框 13"/>
          <p:cNvSpPr txBox="1"/>
          <p:nvPr/>
        </p:nvSpPr>
        <p:spPr>
          <a:xfrm>
            <a:off x="1273175" y="452438"/>
            <a:ext cx="792162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Times New Roman" pitchFamily="18" charset="0"/>
                <a:ea typeface="Times New Roman" pitchFamily="18" charset="0"/>
              </a:rPr>
              <a:t>Input</a:t>
            </a:r>
            <a:endParaRPr lang="en-US" altLang="zh-CN" sz="1800" dirty="0">
              <a:latin typeface="Times New Roman" pitchFamily="18" charset="0"/>
              <a:ea typeface="Times New Roman" pitchFamily="18" charset="0"/>
            </a:endParaRPr>
          </a:p>
        </p:txBody>
      </p:sp>
      <p:cxnSp>
        <p:nvCxnSpPr>
          <p:cNvPr id="19" name="连接符: 肘形 18"/>
          <p:cNvCxnSpPr>
            <a:stCxn id="7218" idx="3"/>
            <a:endCxn id="7213" idx="3"/>
          </p:cNvCxnSpPr>
          <p:nvPr/>
        </p:nvCxnSpPr>
        <p:spPr>
          <a:xfrm>
            <a:off x="2914650" y="4656138"/>
            <a:ext cx="3175" cy="1111250"/>
          </a:xfrm>
          <a:prstGeom prst="bentConnector3">
            <a:avLst>
              <a:gd name="adj1" fmla="val 640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21" name="文本框 13"/>
          <p:cNvSpPr txBox="1"/>
          <p:nvPr/>
        </p:nvSpPr>
        <p:spPr>
          <a:xfrm>
            <a:off x="1273175" y="3545205"/>
            <a:ext cx="104394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Times New Roman" pitchFamily="18" charset="0"/>
                <a:ea typeface="Times New Roman" pitchFamily="18" charset="0"/>
                <a:sym typeface="+mn-ea"/>
              </a:rPr>
              <a:t>Input</a:t>
            </a:r>
            <a:endParaRPr lang="zh-CN" altLang="en-US" sz="1800" dirty="0">
              <a:latin typeface="Times New Roman" pitchFamily="18" charset="0"/>
              <a:ea typeface="Times New Roman" pitchFamily="18" charset="0"/>
            </a:endParaRPr>
          </a:p>
        </p:txBody>
      </p:sp>
      <p:sp>
        <p:nvSpPr>
          <p:cNvPr id="7222" name="文本框 6278"/>
          <p:cNvSpPr txBox="1"/>
          <p:nvPr/>
        </p:nvSpPr>
        <p:spPr>
          <a:xfrm>
            <a:off x="9095740" y="427355"/>
            <a:ext cx="22955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Times New Roman" pitchFamily="18" charset="0"/>
                <a:ea typeface="Times New Roman" pitchFamily="18" charset="0"/>
              </a:rPr>
              <a:t>HIM Training Pipeline</a:t>
            </a:r>
            <a:endParaRPr lang="en-US" altLang="zh-CN" sz="1800" dirty="0">
              <a:latin typeface="Times New Roman" pitchFamily="18" charset="0"/>
              <a:ea typeface="Times New Roman" pitchFamily="18" charset="0"/>
            </a:endParaRPr>
          </a:p>
        </p:txBody>
      </p:sp>
      <p:sp>
        <p:nvSpPr>
          <p:cNvPr id="6280" name="矩形: 圆角 6279"/>
          <p:cNvSpPr/>
          <p:nvPr/>
        </p:nvSpPr>
        <p:spPr>
          <a:xfrm>
            <a:off x="8470900" y="806450"/>
            <a:ext cx="3417888" cy="25574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281" name="矩形: 圆角 6280"/>
          <p:cNvSpPr/>
          <p:nvPr/>
        </p:nvSpPr>
        <p:spPr>
          <a:xfrm>
            <a:off x="8653463" y="2674938"/>
            <a:ext cx="1198563" cy="4572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Network Initialization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6282" name="矩形: 圆角 6281"/>
          <p:cNvSpPr/>
          <p:nvPr/>
        </p:nvSpPr>
        <p:spPr>
          <a:xfrm>
            <a:off x="10580688" y="1104900"/>
            <a:ext cx="1196975" cy="4572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Convergence Judgment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6283" name="矩形: 圆角 6282"/>
          <p:cNvSpPr/>
          <p:nvPr/>
        </p:nvSpPr>
        <p:spPr>
          <a:xfrm>
            <a:off x="10529888" y="2674938"/>
            <a:ext cx="1301750" cy="4572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Optimal Model Saving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6284" name="矩形: 圆角 6283"/>
          <p:cNvSpPr/>
          <p:nvPr/>
        </p:nvSpPr>
        <p:spPr>
          <a:xfrm>
            <a:off x="9564688" y="2065338"/>
            <a:ext cx="1355725" cy="4572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Policy Optimization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6285" name="矩形: 圆角 6284"/>
          <p:cNvSpPr/>
          <p:nvPr/>
        </p:nvSpPr>
        <p:spPr>
          <a:xfrm>
            <a:off x="8575675" y="1093788"/>
            <a:ext cx="1354138" cy="4572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Representation Learning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6286" name="箭头: 下 6285"/>
          <p:cNvSpPr/>
          <p:nvPr/>
        </p:nvSpPr>
        <p:spPr>
          <a:xfrm rot="5400000">
            <a:off x="10065544" y="1150144"/>
            <a:ext cx="355600" cy="271463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287" name="箭头: 下 6286"/>
          <p:cNvSpPr/>
          <p:nvPr/>
        </p:nvSpPr>
        <p:spPr>
          <a:xfrm rot="18944651">
            <a:off x="9398000" y="1706563"/>
            <a:ext cx="355600" cy="271463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288" name="箭头: 下 6287"/>
          <p:cNvSpPr/>
          <p:nvPr/>
        </p:nvSpPr>
        <p:spPr>
          <a:xfrm rot="12677920">
            <a:off x="10666413" y="1692275"/>
            <a:ext cx="355600" cy="271463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6289" name="直接箭头连接符 6288"/>
          <p:cNvCxnSpPr>
            <a:stCxn id="6281" idx="0"/>
            <a:endCxn id="6285" idx="2"/>
          </p:cNvCxnSpPr>
          <p:nvPr/>
        </p:nvCxnSpPr>
        <p:spPr>
          <a:xfrm flipV="1">
            <a:off x="9251950" y="1550988"/>
            <a:ext cx="0" cy="1123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90" name="直接箭头连接符 6289"/>
          <p:cNvCxnSpPr/>
          <p:nvPr/>
        </p:nvCxnSpPr>
        <p:spPr>
          <a:xfrm>
            <a:off x="11064875" y="1562100"/>
            <a:ext cx="1588" cy="11128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34" name="文本框 6290"/>
          <p:cNvSpPr txBox="1"/>
          <p:nvPr/>
        </p:nvSpPr>
        <p:spPr>
          <a:xfrm>
            <a:off x="11064875" y="1987550"/>
            <a:ext cx="982345" cy="2755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200" dirty="0"/>
              <a:t>Converged </a:t>
            </a:r>
            <a:endParaRPr lang="en-US" altLang="zh-CN" sz="1200" dirty="0"/>
          </a:p>
        </p:txBody>
      </p:sp>
      <p:graphicFrame>
        <p:nvGraphicFramePr>
          <p:cNvPr id="7235" name="对象 2"/>
          <p:cNvGraphicFramePr>
            <a:graphicFrameLocks noChangeAspect="1"/>
          </p:cNvGraphicFramePr>
          <p:nvPr/>
        </p:nvGraphicFramePr>
        <p:xfrm>
          <a:off x="4021138" y="4468813"/>
          <a:ext cx="6731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7" imgW="673100" imgH="254000" progId="Equation.DSMT4">
                  <p:embed/>
                </p:oleObj>
              </mc:Choice>
              <mc:Fallback>
                <p:oleObj name="" r:id="rId7" imgW="673100" imgH="2540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21138" y="4468813"/>
                        <a:ext cx="673100" cy="254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13"/>
          <p:cNvSpPr txBox="1"/>
          <p:nvPr/>
        </p:nvSpPr>
        <p:spPr>
          <a:xfrm>
            <a:off x="8963660" y="821055"/>
            <a:ext cx="601345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Times New Roman" pitchFamily="18" charset="0"/>
                <a:ea typeface="Times New Roman" pitchFamily="18" charset="0"/>
              </a:rPr>
              <a:t>HIO</a:t>
            </a:r>
            <a:endParaRPr lang="en-US" altLang="zh-CN" sz="1400" dirty="0">
              <a:latin typeface="Times New Roman" pitchFamily="18" charset="0"/>
              <a:ea typeface="Times New Roman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930130" y="1778000"/>
            <a:ext cx="5334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fr-FR" altLang="zh-CN" sz="140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  <a:sym typeface="+mn-ea"/>
              </a:rPr>
              <a:t>PPO</a:t>
            </a:r>
            <a:endParaRPr lang="fr-FR" altLang="zh-CN" sz="140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矩形 17"/>
          <p:cNvSpPr/>
          <p:nvPr/>
        </p:nvSpPr>
        <p:spPr>
          <a:xfrm>
            <a:off x="6375400" y="360363"/>
            <a:ext cx="2925763" cy="2819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" name="图片 3" descr="Figure_1"/>
          <p:cNvPicPr>
            <a:picLocks noChangeArrowheads="1"/>
          </p:cNvPicPr>
          <p:nvPr/>
        </p:nvPicPr>
        <p:blipFill rotWithShape="1">
          <a:blip r:embed="rId1"/>
          <a:srcRect l="28635" t="35391" r="10904" b="21455"/>
          <a:stretch>
            <a:fillRect/>
          </a:stretch>
        </p:blipFill>
        <p:spPr bwMode="auto">
          <a:xfrm>
            <a:off x="561975" y="1046163"/>
            <a:ext cx="1841500" cy="1277938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</p:pic>
      <p:pic>
        <p:nvPicPr>
          <p:cNvPr id="8196" name="图片 8"/>
          <p:cNvPicPr/>
          <p:nvPr/>
        </p:nvPicPr>
        <p:blipFill>
          <a:blip r:embed="rId2"/>
          <a:srcRect l="19637" t="23322" r="14288" b="5328"/>
          <a:stretch>
            <a:fillRect/>
          </a:stretch>
        </p:blipFill>
        <p:spPr>
          <a:xfrm>
            <a:off x="547688" y="3895725"/>
            <a:ext cx="3698875" cy="2338388"/>
          </a:xfrm>
          <a:prstGeom prst="rect">
            <a:avLst/>
          </a:prstGeom>
          <a:noFill/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</p:pic>
      <p:cxnSp>
        <p:nvCxnSpPr>
          <p:cNvPr id="12" name="连接符: 曲线 11"/>
          <p:cNvCxnSpPr>
            <a:stCxn id="8196" idx="3"/>
            <a:endCxn id="17" idx="1"/>
          </p:cNvCxnSpPr>
          <p:nvPr/>
        </p:nvCxnSpPr>
        <p:spPr>
          <a:xfrm flipV="1">
            <a:off x="4246563" y="1998663"/>
            <a:ext cx="2757488" cy="3065463"/>
          </a:xfrm>
          <a:prstGeom prst="curvedConnector3">
            <a:avLst>
              <a:gd name="adj1" fmla="val 37218"/>
            </a:avLst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矩形: 圆角 15"/>
          <p:cNvSpPr/>
          <p:nvPr/>
        </p:nvSpPr>
        <p:spPr>
          <a:xfrm>
            <a:off x="7004050" y="554038"/>
            <a:ext cx="1636713" cy="58737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Navigation Controller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7004050" y="1704975"/>
            <a:ext cx="1636713" cy="58737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Gait Controller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4459288" y="3068638"/>
            <a:ext cx="1658938" cy="54292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Reinforcement Learning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8201" name="图片 21"/>
          <p:cNvPicPr>
            <a:picLocks noChangeAspect="1"/>
          </p:cNvPicPr>
          <p:nvPr/>
        </p:nvPicPr>
        <p:blipFill>
          <a:blip r:embed="rId3"/>
          <a:srcRect l="19685" t="5141" r="14412" b="5595"/>
          <a:stretch>
            <a:fillRect/>
          </a:stretch>
        </p:blipFill>
        <p:spPr>
          <a:xfrm>
            <a:off x="2403475" y="406400"/>
            <a:ext cx="1843088" cy="12779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202" name="图片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3475" y="1684338"/>
            <a:ext cx="1843088" cy="1277937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29" name="连接符: 曲线 28"/>
          <p:cNvCxnSpPr>
            <a:endCxn id="16" idx="1"/>
          </p:cNvCxnSpPr>
          <p:nvPr/>
        </p:nvCxnSpPr>
        <p:spPr>
          <a:xfrm flipV="1">
            <a:off x="4213225" y="847725"/>
            <a:ext cx="2790825" cy="552450"/>
          </a:xfrm>
          <a:prstGeom prst="curved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矩形: 圆角 6"/>
          <p:cNvSpPr/>
          <p:nvPr/>
        </p:nvSpPr>
        <p:spPr>
          <a:xfrm>
            <a:off x="4561840" y="897890"/>
            <a:ext cx="1498600" cy="50228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Trajectory Planning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8205" name="文本框 34"/>
          <p:cNvSpPr txBox="1"/>
          <p:nvPr/>
        </p:nvSpPr>
        <p:spPr>
          <a:xfrm>
            <a:off x="1054735" y="6234430"/>
            <a:ext cx="325247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Times New Roman" pitchFamily="18" charset="0"/>
                <a:ea typeface="Times New Roman" pitchFamily="18" charset="0"/>
              </a:rPr>
              <a:t>Reward Function Driving </a:t>
            </a:r>
            <a:endParaRPr lang="en-US" altLang="zh-CN" sz="2000" dirty="0">
              <a:latin typeface="Times New Roman" pitchFamily="18" charset="0"/>
              <a:ea typeface="Times New Roman" pitchFamily="18" charset="0"/>
            </a:endParaRPr>
          </a:p>
        </p:txBody>
      </p:sp>
      <p:pic>
        <p:nvPicPr>
          <p:cNvPr id="39" name="图片 6" descr="截图 2026-04-24 14-53-10"/>
          <p:cNvPicPr>
            <a:picLocks noChangeArrowheads="1"/>
          </p:cNvPicPr>
          <p:nvPr/>
        </p:nvPicPr>
        <p:blipFill rotWithShape="1">
          <a:blip r:embed="rId5"/>
          <a:srcRect l="12012" t="8792" r="24550" b="10875"/>
          <a:stretch>
            <a:fillRect/>
          </a:stretch>
        </p:blipFill>
        <p:spPr bwMode="auto">
          <a:xfrm>
            <a:off x="5972226" y="3677840"/>
            <a:ext cx="3699546" cy="2632075"/>
          </a:xfrm>
          <a:prstGeom prst="roundRect">
            <a:avLst/>
          </a:prstGeom>
          <a:noFill/>
          <a:ln>
            <a:noFill/>
          </a:ln>
        </p:spPr>
      </p:pic>
      <p:cxnSp>
        <p:nvCxnSpPr>
          <p:cNvPr id="46" name="直接箭头连接符 45"/>
          <p:cNvCxnSpPr>
            <a:stCxn id="17" idx="2"/>
          </p:cNvCxnSpPr>
          <p:nvPr/>
        </p:nvCxnSpPr>
        <p:spPr>
          <a:xfrm>
            <a:off x="7821613" y="2292350"/>
            <a:ext cx="0" cy="13858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08" name="文本框 51"/>
          <p:cNvSpPr txBox="1"/>
          <p:nvPr/>
        </p:nvSpPr>
        <p:spPr>
          <a:xfrm>
            <a:off x="7697788" y="2430463"/>
            <a:ext cx="1566862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Times New Roman" pitchFamily="18" charset="0"/>
                <a:ea typeface="Times New Roman" pitchFamily="18" charset="0"/>
              </a:rPr>
              <a:t>Joint Position Commands</a:t>
            </a:r>
            <a:endParaRPr lang="en-US" altLang="zh-CN" sz="1400" dirty="0">
              <a:latin typeface="Times New Roman" pitchFamily="18" charset="0"/>
              <a:ea typeface="Times New Roman" pitchFamily="18" charset="0"/>
            </a:endParaRPr>
          </a:p>
        </p:txBody>
      </p:sp>
      <p:cxnSp>
        <p:nvCxnSpPr>
          <p:cNvPr id="59" name="直接箭头连接符 58"/>
          <p:cNvCxnSpPr>
            <a:stCxn id="16" idx="2"/>
            <a:endCxn id="17" idx="0"/>
          </p:cNvCxnSpPr>
          <p:nvPr/>
        </p:nvCxnSpPr>
        <p:spPr>
          <a:xfrm>
            <a:off x="7821613" y="1141413"/>
            <a:ext cx="0" cy="5635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10" name="文本框 65"/>
          <p:cNvSpPr txBox="1"/>
          <p:nvPr/>
        </p:nvSpPr>
        <p:spPr>
          <a:xfrm>
            <a:off x="548005" y="3068955"/>
            <a:ext cx="400812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Times New Roman" pitchFamily="18" charset="0"/>
                <a:ea typeface="Times New Roman" pitchFamily="18" charset="0"/>
              </a:rPr>
              <a:t>Depth Camera Perception Driving</a:t>
            </a:r>
            <a:endParaRPr lang="en-US" altLang="zh-CN" sz="2000" dirty="0">
              <a:latin typeface="Times New Roman" pitchFamily="18" charset="0"/>
              <a:ea typeface="Times New Roman" pitchFamily="18" charset="0"/>
            </a:endParaRPr>
          </a:p>
        </p:txBody>
      </p:sp>
      <p:sp>
        <p:nvSpPr>
          <p:cNvPr id="8211" name="文本框 67"/>
          <p:cNvSpPr txBox="1"/>
          <p:nvPr/>
        </p:nvSpPr>
        <p:spPr>
          <a:xfrm>
            <a:off x="6118225" y="6309995"/>
            <a:ext cx="346964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Times New Roman" pitchFamily="18" charset="0"/>
                <a:ea typeface="Times New Roman" pitchFamily="18" charset="0"/>
              </a:rPr>
              <a:t>Autonomous Navigation</a:t>
            </a:r>
            <a:endParaRPr lang="en-US" altLang="zh-CN" sz="2000" dirty="0">
              <a:latin typeface="Times New Roman" pitchFamily="18" charset="0"/>
              <a:ea typeface="Times New Roman" pitchFamily="18" charset="0"/>
            </a:endParaRPr>
          </a:p>
        </p:txBody>
      </p:sp>
      <p:graphicFrame>
        <p:nvGraphicFramePr>
          <p:cNvPr id="8212" name="对象 1"/>
          <p:cNvGraphicFramePr>
            <a:graphicFrameLocks noChangeAspect="1"/>
          </p:cNvGraphicFramePr>
          <p:nvPr/>
        </p:nvGraphicFramePr>
        <p:xfrm>
          <a:off x="7927975" y="1322388"/>
          <a:ext cx="7112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6" imgW="711200" imgH="266700" progId="Equation.DSMT4">
                  <p:embed/>
                </p:oleObj>
              </mc:Choice>
              <mc:Fallback>
                <p:oleObj name="" r:id="rId6" imgW="711200" imgH="2667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927975" y="1322388"/>
                        <a:ext cx="711200" cy="266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218" name="图片 4" descr="截图 2026-04-24 14-52-10"/>
          <p:cNvPicPr>
            <a:picLocks noChangeAspect="1"/>
          </p:cNvPicPr>
          <p:nvPr/>
        </p:nvPicPr>
        <p:blipFill>
          <a:blip r:embed="rId1"/>
          <a:srcRect l="2739" t="8813" r="14178" b="10933"/>
          <a:stretch>
            <a:fillRect/>
          </a:stretch>
        </p:blipFill>
        <p:spPr>
          <a:xfrm>
            <a:off x="692150" y="315913"/>
            <a:ext cx="4843463" cy="26320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19" name="图片 5" descr="截图 2026-04-24 14-53-02"/>
          <p:cNvPicPr>
            <a:picLocks noChangeAspect="1"/>
          </p:cNvPicPr>
          <p:nvPr/>
        </p:nvPicPr>
        <p:blipFill>
          <a:blip r:embed="rId2"/>
          <a:srcRect l="2802" t="9000" r="14255" b="10898"/>
          <a:stretch>
            <a:fillRect/>
          </a:stretch>
        </p:blipFill>
        <p:spPr>
          <a:xfrm>
            <a:off x="5834063" y="315913"/>
            <a:ext cx="4843462" cy="26304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0" name="图片 7" descr="截图 2026-04-24 14-53-33"/>
          <p:cNvPicPr>
            <a:picLocks noChangeAspect="1"/>
          </p:cNvPicPr>
          <p:nvPr/>
        </p:nvPicPr>
        <p:blipFill>
          <a:blip r:embed="rId3"/>
          <a:srcRect l="2640" t="8768" r="14160" b="11035"/>
          <a:stretch>
            <a:fillRect/>
          </a:stretch>
        </p:blipFill>
        <p:spPr>
          <a:xfrm>
            <a:off x="5834063" y="3314700"/>
            <a:ext cx="4843462" cy="26320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1" name="图片 6" descr="截图 2026-04-24 14-53-10"/>
          <p:cNvPicPr>
            <a:picLocks noChangeAspect="1"/>
          </p:cNvPicPr>
          <p:nvPr/>
        </p:nvPicPr>
        <p:blipFill>
          <a:blip r:embed="rId4"/>
          <a:srcRect l="2660" t="8792" r="14258" b="10875"/>
          <a:stretch>
            <a:fillRect/>
          </a:stretch>
        </p:blipFill>
        <p:spPr>
          <a:xfrm>
            <a:off x="692150" y="3314700"/>
            <a:ext cx="4845050" cy="26320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22" name="文本框 8"/>
          <p:cNvSpPr txBox="1"/>
          <p:nvPr/>
        </p:nvSpPr>
        <p:spPr>
          <a:xfrm>
            <a:off x="2282825" y="2955925"/>
            <a:ext cx="2998470" cy="3371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(a)</a:t>
            </a:r>
            <a:r>
              <a:rPr lang="en-US" altLang="zh-CN" sz="1600" dirty="0">
                <a:latin typeface="Times New Roman" pitchFamily="18" charset="0"/>
                <a:ea typeface="Times New Roman" pitchFamily="18" charset="0"/>
              </a:rPr>
              <a:t>Start Point — Waypoint A</a:t>
            </a:r>
            <a:endParaRPr lang="en-US" altLang="zh-CN" sz="1600" dirty="0">
              <a:latin typeface="Times New Roman" pitchFamily="18" charset="0"/>
              <a:ea typeface="Times New Roman" pitchFamily="18" charset="0"/>
            </a:endParaRPr>
          </a:p>
        </p:txBody>
      </p:sp>
      <p:sp>
        <p:nvSpPr>
          <p:cNvPr id="9223" name="文本框 8"/>
          <p:cNvSpPr txBox="1"/>
          <p:nvPr/>
        </p:nvSpPr>
        <p:spPr>
          <a:xfrm>
            <a:off x="7219950" y="2955925"/>
            <a:ext cx="3147060" cy="3371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(b)</a:t>
            </a:r>
            <a:r>
              <a:rPr lang="en-US" altLang="zh-CN" sz="1600" dirty="0">
                <a:latin typeface="Times New Roman" pitchFamily="18" charset="0"/>
                <a:ea typeface="Times New Roman" pitchFamily="18" charset="0"/>
              </a:rPr>
              <a:t> Waypoint A — Waypoint B</a:t>
            </a:r>
            <a:endParaRPr lang="en-US" altLang="zh-CN" sz="1600" dirty="0">
              <a:latin typeface="Times New Roman" pitchFamily="18" charset="0"/>
              <a:ea typeface="Times New Roman" pitchFamily="18" charset="0"/>
            </a:endParaRPr>
          </a:p>
        </p:txBody>
      </p:sp>
      <p:sp>
        <p:nvSpPr>
          <p:cNvPr id="9224" name="文本框 8"/>
          <p:cNvSpPr txBox="1"/>
          <p:nvPr/>
        </p:nvSpPr>
        <p:spPr>
          <a:xfrm>
            <a:off x="7361555" y="5959475"/>
            <a:ext cx="2652395" cy="3371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(d)</a:t>
            </a:r>
            <a:r>
              <a:rPr lang="en-US" altLang="zh-CN" sz="1600" dirty="0">
                <a:latin typeface="Times New Roman" pitchFamily="18" charset="0"/>
                <a:ea typeface="Times New Roman" pitchFamily="18" charset="0"/>
              </a:rPr>
              <a:t>Waypoint C — End Point</a:t>
            </a:r>
            <a:endParaRPr lang="en-US" altLang="zh-CN" sz="1600" dirty="0">
              <a:latin typeface="Times New Roman" pitchFamily="18" charset="0"/>
              <a:ea typeface="Times New Roman" pitchFamily="18" charset="0"/>
            </a:endParaRPr>
          </a:p>
        </p:txBody>
      </p:sp>
      <p:sp>
        <p:nvSpPr>
          <p:cNvPr id="9225" name="文本框 8"/>
          <p:cNvSpPr txBox="1"/>
          <p:nvPr/>
        </p:nvSpPr>
        <p:spPr>
          <a:xfrm>
            <a:off x="2078355" y="5953125"/>
            <a:ext cx="3115310" cy="3371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(c)</a:t>
            </a:r>
            <a:r>
              <a:rPr lang="en-US" altLang="zh-CN" sz="1600" dirty="0">
                <a:latin typeface="Times New Roman" pitchFamily="18" charset="0"/>
                <a:ea typeface="Times New Roman" pitchFamily="18" charset="0"/>
              </a:rPr>
              <a:t>Waypoint B — Waypoint C</a:t>
            </a:r>
            <a:endParaRPr lang="en-US" altLang="zh-CN" sz="1600" dirty="0">
              <a:latin typeface="Times New Roman" pitchFamily="18" charset="0"/>
              <a:ea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242" name="图片 3" descr="截图 2026-04-16 20-53-49"/>
          <p:cNvPicPr>
            <a:picLocks noChangeAspect="1"/>
          </p:cNvPicPr>
          <p:nvPr/>
        </p:nvPicPr>
        <p:blipFill>
          <a:blip r:embed="rId1"/>
          <a:srcRect l="2666" t="9395" r="15326" b="10983"/>
          <a:stretch>
            <a:fillRect/>
          </a:stretch>
        </p:blipFill>
        <p:spPr>
          <a:xfrm>
            <a:off x="254000" y="149225"/>
            <a:ext cx="2800350" cy="1527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3" name="图片 7" descr="截图 2026-04-16 20-54-01"/>
          <p:cNvPicPr>
            <a:picLocks noChangeAspect="1"/>
          </p:cNvPicPr>
          <p:nvPr/>
        </p:nvPicPr>
        <p:blipFill>
          <a:blip r:embed="rId2"/>
          <a:srcRect l="1918" t="8542" r="15419" b="10406"/>
          <a:stretch>
            <a:fillRect/>
          </a:stretch>
        </p:blipFill>
        <p:spPr>
          <a:xfrm>
            <a:off x="3149600" y="147638"/>
            <a:ext cx="2800350" cy="15287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4" name="图片 9" descr="截图 2026-04-16 20-54-09"/>
          <p:cNvPicPr>
            <a:picLocks noChangeAspect="1"/>
          </p:cNvPicPr>
          <p:nvPr/>
        </p:nvPicPr>
        <p:blipFill>
          <a:blip r:embed="rId3"/>
          <a:srcRect l="2710" t="8534" r="14351" b="10960"/>
          <a:stretch>
            <a:fillRect/>
          </a:stretch>
        </p:blipFill>
        <p:spPr>
          <a:xfrm>
            <a:off x="8940800" y="147638"/>
            <a:ext cx="2800350" cy="15287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5" name="内容占位符 10" descr="截图 2026-04-16 20-54-25"/>
          <p:cNvPicPr>
            <a:picLocks noGrp="1" noChangeAspect="1"/>
          </p:cNvPicPr>
          <p:nvPr>
            <p:ph idx="1"/>
          </p:nvPr>
        </p:nvPicPr>
        <p:blipFill>
          <a:blip r:embed="rId4"/>
          <a:srcRect l="2817" t="8691" r="15042" b="11395"/>
          <a:stretch>
            <a:fillRect/>
          </a:stretch>
        </p:blipFill>
        <p:spPr>
          <a:xfrm>
            <a:off x="6045200" y="147638"/>
            <a:ext cx="2801938" cy="1528762"/>
          </a:xfrm>
        </p:spPr>
      </p:pic>
      <p:pic>
        <p:nvPicPr>
          <p:cNvPr id="10246" name="图片 12" descr="截图 2026-04-16 20-54-44"/>
          <p:cNvPicPr>
            <a:picLocks noChangeAspect="1"/>
          </p:cNvPicPr>
          <p:nvPr/>
        </p:nvPicPr>
        <p:blipFill>
          <a:blip r:embed="rId5"/>
          <a:srcRect l="2666" t="9023" r="14188" b="10847"/>
          <a:stretch>
            <a:fillRect/>
          </a:stretch>
        </p:blipFill>
        <p:spPr>
          <a:xfrm>
            <a:off x="254000" y="1809750"/>
            <a:ext cx="2800350" cy="15303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7" name="图片 13" descr="截图 2026-04-16 20-54-59"/>
          <p:cNvPicPr>
            <a:picLocks noChangeAspect="1"/>
          </p:cNvPicPr>
          <p:nvPr/>
        </p:nvPicPr>
        <p:blipFill>
          <a:blip r:embed="rId6"/>
          <a:srcRect l="2769" t="9084" r="14348" b="10860"/>
          <a:stretch>
            <a:fillRect/>
          </a:stretch>
        </p:blipFill>
        <p:spPr>
          <a:xfrm>
            <a:off x="3149600" y="1809750"/>
            <a:ext cx="2805113" cy="1527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8" name="图片 14" descr="截图 2026-04-16 20-55-10"/>
          <p:cNvPicPr>
            <a:picLocks noChangeAspect="1"/>
          </p:cNvPicPr>
          <p:nvPr/>
        </p:nvPicPr>
        <p:blipFill>
          <a:blip r:embed="rId7"/>
          <a:srcRect l="2815" t="8664" r="14384" b="11134"/>
          <a:stretch>
            <a:fillRect/>
          </a:stretch>
        </p:blipFill>
        <p:spPr>
          <a:xfrm>
            <a:off x="6045200" y="1809750"/>
            <a:ext cx="2801938" cy="1527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9" name="图片 15" descr="截图 2026-04-16 20-55-26"/>
          <p:cNvPicPr>
            <a:picLocks noChangeAspect="1"/>
          </p:cNvPicPr>
          <p:nvPr/>
        </p:nvPicPr>
        <p:blipFill>
          <a:blip r:embed="rId8"/>
          <a:srcRect l="2708" t="8717" r="14316" b="11093"/>
          <a:stretch>
            <a:fillRect/>
          </a:stretch>
        </p:blipFill>
        <p:spPr>
          <a:xfrm>
            <a:off x="8937625" y="1809750"/>
            <a:ext cx="2806700" cy="15271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266" name="图片 1" descr="DWA-Heigh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3263" y="142875"/>
            <a:ext cx="2606675" cy="21955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67" name="图片 2" descr="guijit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263" y="2552700"/>
            <a:ext cx="2606675" cy="21955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68" name="图片 4" descr="guijitu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3388" y="141288"/>
            <a:ext cx="2606675" cy="21971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69" name="图片 5" descr="guijitu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3388" y="2551113"/>
            <a:ext cx="2606675" cy="21971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70" name="图片 7" descr="guijitu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513" y="2551113"/>
            <a:ext cx="2606675" cy="21971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71" name="图片 9" descr="guijitu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513" y="141288"/>
            <a:ext cx="2606675" cy="2197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72" name="文本框 2"/>
          <p:cNvSpPr txBox="1"/>
          <p:nvPr/>
        </p:nvSpPr>
        <p:spPr>
          <a:xfrm>
            <a:off x="1335088" y="2243138"/>
            <a:ext cx="450850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(a)</a:t>
            </a:r>
            <a:endParaRPr lang="zh-CN" altLang="en-US" sz="1400" dirty="0"/>
          </a:p>
        </p:txBody>
      </p:sp>
      <p:sp>
        <p:nvSpPr>
          <p:cNvPr id="11273" name="文本框 2"/>
          <p:cNvSpPr txBox="1"/>
          <p:nvPr/>
        </p:nvSpPr>
        <p:spPr>
          <a:xfrm>
            <a:off x="7005638" y="2243138"/>
            <a:ext cx="450850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(c)</a:t>
            </a:r>
            <a:endParaRPr lang="zh-CN" altLang="en-US" sz="1400" dirty="0"/>
          </a:p>
        </p:txBody>
      </p:sp>
      <p:sp>
        <p:nvSpPr>
          <p:cNvPr id="11274" name="文本框 2"/>
          <p:cNvSpPr txBox="1"/>
          <p:nvPr/>
        </p:nvSpPr>
        <p:spPr>
          <a:xfrm>
            <a:off x="4211638" y="2243138"/>
            <a:ext cx="450850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(b)</a:t>
            </a:r>
            <a:endParaRPr lang="zh-CN" altLang="en-US" sz="1400" dirty="0"/>
          </a:p>
        </p:txBody>
      </p:sp>
      <p:sp>
        <p:nvSpPr>
          <p:cNvPr id="11275" name="文本框 2"/>
          <p:cNvSpPr txBox="1"/>
          <p:nvPr/>
        </p:nvSpPr>
        <p:spPr>
          <a:xfrm>
            <a:off x="1309688" y="4651375"/>
            <a:ext cx="450850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(a)</a:t>
            </a:r>
            <a:endParaRPr lang="zh-CN" altLang="en-US" sz="1400" dirty="0"/>
          </a:p>
        </p:txBody>
      </p:sp>
      <p:sp>
        <p:nvSpPr>
          <p:cNvPr id="11276" name="文本框 2"/>
          <p:cNvSpPr txBox="1"/>
          <p:nvPr/>
        </p:nvSpPr>
        <p:spPr>
          <a:xfrm>
            <a:off x="6980238" y="4651375"/>
            <a:ext cx="450850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(c)</a:t>
            </a:r>
            <a:endParaRPr lang="zh-CN" altLang="en-US" sz="1400" dirty="0"/>
          </a:p>
        </p:txBody>
      </p:sp>
      <p:sp>
        <p:nvSpPr>
          <p:cNvPr id="11277" name="文本框 2"/>
          <p:cNvSpPr txBox="1"/>
          <p:nvPr/>
        </p:nvSpPr>
        <p:spPr>
          <a:xfrm>
            <a:off x="4186238" y="4651375"/>
            <a:ext cx="450850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(b)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290" name="图片 3" descr="guijitu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2863" y="3151188"/>
            <a:ext cx="2606675" cy="21971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291" name="图片 6" descr="guijit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988" y="3151188"/>
            <a:ext cx="2606675" cy="21971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292" name="图片 10" descr="guijitu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3151188"/>
            <a:ext cx="2606675" cy="21955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293" name="图片 2" descr="guijitu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2863" y="369888"/>
            <a:ext cx="2606675" cy="21955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294" name="图片 5" descr="guijitu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2988" y="368300"/>
            <a:ext cx="2606675" cy="21971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295" name="图片 7" descr="guijitu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368300"/>
            <a:ext cx="2606675" cy="2197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296" name="文本框 2"/>
          <p:cNvSpPr txBox="1"/>
          <p:nvPr/>
        </p:nvSpPr>
        <p:spPr>
          <a:xfrm>
            <a:off x="1919288" y="2470150"/>
            <a:ext cx="450850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(a)</a:t>
            </a:r>
            <a:endParaRPr lang="zh-CN" altLang="en-US" sz="1400" dirty="0"/>
          </a:p>
        </p:txBody>
      </p:sp>
      <p:sp>
        <p:nvSpPr>
          <p:cNvPr id="12297" name="文本框 2"/>
          <p:cNvSpPr txBox="1"/>
          <p:nvPr/>
        </p:nvSpPr>
        <p:spPr>
          <a:xfrm>
            <a:off x="7589838" y="2470150"/>
            <a:ext cx="450850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(c)</a:t>
            </a:r>
            <a:endParaRPr lang="zh-CN" altLang="en-US" sz="1400" dirty="0"/>
          </a:p>
        </p:txBody>
      </p:sp>
      <p:sp>
        <p:nvSpPr>
          <p:cNvPr id="12298" name="文本框 2"/>
          <p:cNvSpPr txBox="1"/>
          <p:nvPr/>
        </p:nvSpPr>
        <p:spPr>
          <a:xfrm>
            <a:off x="4794250" y="2470150"/>
            <a:ext cx="450850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(b)</a:t>
            </a:r>
            <a:endParaRPr lang="zh-CN" altLang="en-US" sz="1400" dirty="0"/>
          </a:p>
        </p:txBody>
      </p:sp>
      <p:sp>
        <p:nvSpPr>
          <p:cNvPr id="12299" name="文本框 2"/>
          <p:cNvSpPr txBox="1"/>
          <p:nvPr/>
        </p:nvSpPr>
        <p:spPr>
          <a:xfrm>
            <a:off x="1882775" y="5259388"/>
            <a:ext cx="450850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(a)</a:t>
            </a:r>
            <a:endParaRPr lang="zh-CN" altLang="en-US" sz="1400" dirty="0"/>
          </a:p>
        </p:txBody>
      </p:sp>
      <p:sp>
        <p:nvSpPr>
          <p:cNvPr id="12300" name="文本框 2"/>
          <p:cNvSpPr txBox="1"/>
          <p:nvPr/>
        </p:nvSpPr>
        <p:spPr>
          <a:xfrm>
            <a:off x="7553325" y="5259388"/>
            <a:ext cx="450850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(c)</a:t>
            </a:r>
            <a:endParaRPr lang="zh-CN" altLang="en-US" sz="1400" dirty="0"/>
          </a:p>
        </p:txBody>
      </p:sp>
      <p:sp>
        <p:nvSpPr>
          <p:cNvPr id="12301" name="文本框 2"/>
          <p:cNvSpPr txBox="1"/>
          <p:nvPr/>
        </p:nvSpPr>
        <p:spPr>
          <a:xfrm>
            <a:off x="4757738" y="5259388"/>
            <a:ext cx="450850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(b)</a:t>
            </a:r>
            <a:endParaRPr lang="zh-CN" altLang="en-US" sz="14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OPCH-4B0B2A85687E222602BB2D0D881B2B373857F658C2EDC83AED0B8A3C257CBB81" val="[{&quot;GradientColorId&quot;:&quot;&quot;,&quot;IsFree&quot;:true,&quot;IsGradient&quot;:false,&quot;ImagePath&quot;:&quot;&quot;,&quot;GradientColor&quot;:null,&quot;SimpleColor&quot;:&quot;#000000&quot;}]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861</Words>
  <Application>WPS 演示</Application>
  <PresentationFormat>宽屏</PresentationFormat>
  <Paragraphs>131</Paragraphs>
  <Slides>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5" baseType="lpstr">
      <vt:lpstr>Arial</vt:lpstr>
      <vt:lpstr>宋体</vt:lpstr>
      <vt:lpstr>Wingdings</vt:lpstr>
      <vt:lpstr>Calibri</vt:lpstr>
      <vt:lpstr>Nimbus Roman No9 L</vt:lpstr>
      <vt:lpstr>Noto Serif CJK SC</vt:lpstr>
      <vt:lpstr>Calibri Light</vt:lpstr>
      <vt:lpstr>Times New Roman</vt:lpstr>
      <vt:lpstr>微软雅黑</vt:lpstr>
      <vt:lpstr>文泉驿微米黑</vt:lpstr>
      <vt:lpstr>宋体</vt:lpstr>
      <vt:lpstr>Arial Unicode MS</vt:lpstr>
      <vt:lpstr>OpenSymbol</vt:lpstr>
      <vt:lpstr>WPS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seven</dc:creator>
  <cp:lastModifiedBy>hzz</cp:lastModifiedBy>
  <cp:revision>166</cp:revision>
  <dcterms:created xsi:type="dcterms:W3CDTF">2026-06-24T15:44:35Z</dcterms:created>
  <dcterms:modified xsi:type="dcterms:W3CDTF">2026-06-24T15:44:35Z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2052-12.1.2.23578</vt:lpwstr>
  </property>
  <property fmtid="{D5CDD505-2E9C-101B-9397-08002B2CF9AE}" pid="3" name="ICV">
    <vt:lpwstr>8CDF911E8B90DA15AABB3B6AC9FE1DF1_43</vt:lpwstr>
  </property>
</Properties>
</file>