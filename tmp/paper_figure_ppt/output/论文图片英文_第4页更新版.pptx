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4.wmf" ContentType="image/x-wmf"/>
  <Override PartName="/ppt/media/image23.wmf" ContentType="image/x-wmf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31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6.png" ContentType="image/png"/>
  <Override PartName="/ppt/media/image3.png" ContentType="image/png"/>
  <Override PartName="/ppt/media/image33.png" ContentType="image/png"/>
  <Override PartName="/ppt/media/image13.png" ContentType="image/png"/>
  <Override PartName="/ppt/media/image8.png" ContentType="image/png"/>
  <Override PartName="/ppt/media/image38.png" ContentType="image/png"/>
  <Override PartName="/ppt/media/image40.png" ContentType="image/png"/>
  <Override PartName="/ppt/media/image9.png" ContentType="image/png"/>
  <Override PartName="/ppt/media/image39.png" ContentType="image/png"/>
  <Override PartName="/ppt/media/image41.png" ContentType="image/png"/>
  <Override PartName="/ppt/media/image30.png" ContentType="image/png"/>
  <Override PartName="/ppt/media/image28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8.png" ContentType="image/png"/>
  <Override PartName="/ppt/media/image11.png" ContentType="image/png"/>
  <Override PartName="/ppt/media/image12.png" ContentType="image/png"/>
  <Override PartName="/ppt/media/image10.png" ContentType="image/png"/>
  <Override PartName="/ppt/media/image47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media/image29.png" ContentType="image/png"/>
  <Override PartName="/ppt/media/image5.png" ContentType="image/png"/>
  <Override PartName="/ppt/media/image35.png" ContentType="image/png"/>
  <Override PartName="/ppt/media/image34.png" ContentType="image/png"/>
  <Override PartName="/ppt/media/image4.png" ContentType="image/png"/>
  <Override PartName="/ppt/media/image27.png" ContentType="image/pn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AC1AE-50B5-4BE9-B736-CC407DA0F5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C2C33D-88F9-46CB-B261-001A82C476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7101B4-6DFD-40DB-B8E1-7A43CBAA63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0A629-CFD8-45E3-845D-9B00B934AF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A60FBA-F20E-451A-8AED-B4F060953F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47640" y="25848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C62B1A-ED0A-4078-B645-A00A17298C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3916EA-D1F4-4D42-86F4-7ADD2E4B22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77BE1C-0FEF-4A36-946A-A46BFCDD55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303C23-BEB7-40ED-9981-4022EA17D3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977BC1-BC66-43D5-A38B-751A97095C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447177-B5BC-4B21-B8D6-0432FBF8D3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20300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75872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476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20300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75872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460050-67C3-44EA-A2D5-D3709FE7C4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0B4C3B-18FF-41B2-8987-D6A826EC1F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E1C814-C1DE-4966-AE13-5B9CA80ECB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D0AD65-40EB-4A2D-8F4A-CD2E8F9034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B5735B-13C6-4C61-A624-775E03F4DE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EDDFDF-C0C4-474A-A202-93492E152C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47640" y="25848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B0AF73-AA36-4824-B49E-C9289B2874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0F6056-9683-468F-91EB-D0893083A6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08FA79-0717-4876-B6BA-157FED6172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C3247F-6F35-47ED-B014-57E0EE67A2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D68E77-0873-4B9C-B29E-90FB8B6A8E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475F96-E73C-4C4B-A563-8A8343733A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20300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75872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476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20300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75872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C772D2-28E7-4125-9427-58E7108784D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0000"/>
                </a:solidFill>
                <a:latin typeface="Calibri Light"/>
              </a:rPr>
              <a:t>单击此处编辑母版标题样式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zh-CN" sz="2000" spc="-1" strike="noStrike">
                <a:solidFill>
                  <a:srgbClr val="404040"/>
                </a:solidFill>
                <a:latin typeface="Calibri"/>
              </a:rPr>
              <a:t>单击此处编辑母版文本样式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CN" sz="1800" spc="-1" strike="noStrike">
                <a:solidFill>
                  <a:srgbClr val="404040"/>
                </a:solidFill>
                <a:latin typeface="Calibri"/>
              </a:rPr>
              <a:t>第二级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CN" sz="1600" spc="-1" strike="noStrike">
                <a:solidFill>
                  <a:srgbClr val="404040"/>
                </a:solidFill>
                <a:latin typeface="Calibri"/>
              </a:rPr>
              <a:t>第三级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CN" sz="1600" spc="-1" strike="noStrike">
                <a:solidFill>
                  <a:srgbClr val="404040"/>
                </a:solidFill>
                <a:latin typeface="Calibri"/>
              </a:rPr>
              <a:t>第四级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CN" sz="1600" spc="-1" strike="noStrike">
                <a:solidFill>
                  <a:srgbClr val="404040"/>
                </a:solidFill>
                <a:latin typeface="Calibri"/>
              </a:rPr>
              <a:t>第五级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0" lang="zh-CN" sz="6000" spc="-1" strike="noStrike">
                <a:solidFill>
                  <a:srgbClr val="000000"/>
                </a:solidFill>
                <a:latin typeface="Calibri Light"/>
              </a:rPr>
              <a:t>单击此处编辑母版标题样式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23.wmf"/><Relationship Id="rId8" Type="http://schemas.openxmlformats.org/officeDocument/2006/relationships/image" Target="../media/image24.wmf"/><Relationship Id="rId9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 10"/>
          <p:cNvSpPr/>
          <p:nvPr/>
        </p:nvSpPr>
        <p:spPr>
          <a:xfrm>
            <a:off x="2565360" y="2948040"/>
            <a:ext cx="44424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3" name="文本框 11"/>
          <p:cNvSpPr/>
          <p:nvPr/>
        </p:nvSpPr>
        <p:spPr>
          <a:xfrm>
            <a:off x="6418440" y="2948040"/>
            <a:ext cx="4791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(b)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文本框 10"/>
          <p:cNvSpPr/>
          <p:nvPr/>
        </p:nvSpPr>
        <p:spPr>
          <a:xfrm>
            <a:off x="2565360" y="5921280"/>
            <a:ext cx="44424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5" name="文本框 11"/>
          <p:cNvSpPr/>
          <p:nvPr/>
        </p:nvSpPr>
        <p:spPr>
          <a:xfrm>
            <a:off x="6418440" y="5921280"/>
            <a:ext cx="4791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(b)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86" name="图片 3" descr="planning_time_Obstacles"/>
          <p:cNvPicPr/>
          <p:nvPr/>
        </p:nvPicPr>
        <p:blipFill>
          <a:blip r:embed="rId1"/>
          <a:stretch/>
        </p:blipFill>
        <p:spPr>
          <a:xfrm>
            <a:off x="998280" y="3256200"/>
            <a:ext cx="3444840" cy="2755800"/>
          </a:xfrm>
          <a:prstGeom prst="rect">
            <a:avLst/>
          </a:prstGeom>
          <a:ln w="0">
            <a:noFill/>
          </a:ln>
        </p:spPr>
      </p:pic>
      <p:pic>
        <p:nvPicPr>
          <p:cNvPr id="87" name="图片 4" descr="smoothness_Obstacles"/>
          <p:cNvPicPr/>
          <p:nvPr/>
        </p:nvPicPr>
        <p:blipFill>
          <a:blip r:embed="rId2"/>
          <a:stretch/>
        </p:blipFill>
        <p:spPr>
          <a:xfrm>
            <a:off x="4831200" y="3256200"/>
            <a:ext cx="3444840" cy="2755800"/>
          </a:xfrm>
          <a:prstGeom prst="rect">
            <a:avLst/>
          </a:prstGeom>
          <a:ln w="0">
            <a:noFill/>
          </a:ln>
        </p:spPr>
      </p:pic>
      <p:pic>
        <p:nvPicPr>
          <p:cNvPr id="88" name="图片 5" descr="planning_time_Height"/>
          <p:cNvPicPr/>
          <p:nvPr/>
        </p:nvPicPr>
        <p:blipFill>
          <a:blip r:embed="rId3"/>
          <a:stretch/>
        </p:blipFill>
        <p:spPr>
          <a:xfrm>
            <a:off x="998280" y="192240"/>
            <a:ext cx="3444840" cy="2755800"/>
          </a:xfrm>
          <a:prstGeom prst="rect">
            <a:avLst/>
          </a:prstGeom>
          <a:ln w="0">
            <a:noFill/>
          </a:ln>
        </p:spPr>
      </p:pic>
      <p:pic>
        <p:nvPicPr>
          <p:cNvPr id="89" name="图片 6" descr="smoothness_Height"/>
          <p:cNvPicPr/>
          <p:nvPr/>
        </p:nvPicPr>
        <p:blipFill>
          <a:blip r:embed="rId4"/>
          <a:stretch/>
        </p:blipFill>
        <p:spPr>
          <a:xfrm>
            <a:off x="4831200" y="192240"/>
            <a:ext cx="3444840" cy="275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10"/>
          <p:cNvSpPr/>
          <p:nvPr/>
        </p:nvSpPr>
        <p:spPr>
          <a:xfrm>
            <a:off x="2565000" y="6039000"/>
            <a:ext cx="44424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文本框 11"/>
          <p:cNvSpPr/>
          <p:nvPr/>
        </p:nvSpPr>
        <p:spPr>
          <a:xfrm>
            <a:off x="6418440" y="6039000"/>
            <a:ext cx="4791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(b)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2" name="文本框 10"/>
          <p:cNvSpPr/>
          <p:nvPr/>
        </p:nvSpPr>
        <p:spPr>
          <a:xfrm>
            <a:off x="2565360" y="2989080"/>
            <a:ext cx="44424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文本框 11"/>
          <p:cNvSpPr/>
          <p:nvPr/>
        </p:nvSpPr>
        <p:spPr>
          <a:xfrm>
            <a:off x="6418440" y="2989080"/>
            <a:ext cx="4791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(b)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94" name="图片 3" descr="planning_time_Obstacles"/>
          <p:cNvPicPr/>
          <p:nvPr/>
        </p:nvPicPr>
        <p:blipFill>
          <a:blip r:embed="rId1"/>
          <a:stretch/>
        </p:blipFill>
        <p:spPr>
          <a:xfrm>
            <a:off x="998280" y="324000"/>
            <a:ext cx="3444840" cy="2755800"/>
          </a:xfrm>
          <a:prstGeom prst="rect">
            <a:avLst/>
          </a:prstGeom>
          <a:ln w="0">
            <a:noFill/>
          </a:ln>
        </p:spPr>
      </p:pic>
      <p:pic>
        <p:nvPicPr>
          <p:cNvPr id="95" name="图片 4" descr="smoothness_Obstacles"/>
          <p:cNvPicPr/>
          <p:nvPr/>
        </p:nvPicPr>
        <p:blipFill>
          <a:blip r:embed="rId2"/>
          <a:stretch/>
        </p:blipFill>
        <p:spPr>
          <a:xfrm>
            <a:off x="4831200" y="324000"/>
            <a:ext cx="3444840" cy="2755800"/>
          </a:xfrm>
          <a:prstGeom prst="rect">
            <a:avLst/>
          </a:prstGeom>
          <a:ln w="0">
            <a:noFill/>
          </a:ln>
        </p:spPr>
      </p:pic>
      <p:pic>
        <p:nvPicPr>
          <p:cNvPr id="96" name="图片 1" descr="planning_time_Slope"/>
          <p:cNvPicPr/>
          <p:nvPr/>
        </p:nvPicPr>
        <p:blipFill>
          <a:blip r:embed="rId3"/>
          <a:stretch/>
        </p:blipFill>
        <p:spPr>
          <a:xfrm>
            <a:off x="998280" y="3221280"/>
            <a:ext cx="3444840" cy="2755800"/>
          </a:xfrm>
          <a:prstGeom prst="rect">
            <a:avLst/>
          </a:prstGeom>
          <a:ln w="0">
            <a:noFill/>
          </a:ln>
        </p:spPr>
      </p:pic>
      <p:pic>
        <p:nvPicPr>
          <p:cNvPr id="97" name="图片 2" descr="smoothness_Slope"/>
          <p:cNvPicPr/>
          <p:nvPr/>
        </p:nvPicPr>
        <p:blipFill>
          <a:blip r:embed="rId4"/>
          <a:stretch/>
        </p:blipFill>
        <p:spPr>
          <a:xfrm>
            <a:off x="4831200" y="3221280"/>
            <a:ext cx="3444840" cy="275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图片 4" descr=""/>
          <p:cNvPicPr/>
          <p:nvPr/>
        </p:nvPicPr>
        <p:blipFill>
          <a:blip r:embed="rId1"/>
          <a:stretch/>
        </p:blipFill>
        <p:spPr>
          <a:xfrm>
            <a:off x="438120" y="628560"/>
            <a:ext cx="3644640" cy="2068200"/>
          </a:xfrm>
          <a:prstGeom prst="rect">
            <a:avLst/>
          </a:prstGeom>
          <a:ln w="9525">
            <a:noFill/>
          </a:ln>
        </p:spPr>
      </p:pic>
      <p:pic>
        <p:nvPicPr>
          <p:cNvPr id="99" name="图片 1" descr="截图 2026-04-24 14-41-24"/>
          <p:cNvPicPr/>
          <p:nvPr/>
        </p:nvPicPr>
        <p:blipFill>
          <a:blip r:embed="rId2"/>
          <a:srcRect l="2884" t="9074" r="18077" b="11353"/>
          <a:stretch/>
        </p:blipFill>
        <p:spPr>
          <a:xfrm>
            <a:off x="8247240" y="628560"/>
            <a:ext cx="3642840" cy="2069640"/>
          </a:xfrm>
          <a:prstGeom prst="rect">
            <a:avLst/>
          </a:prstGeom>
          <a:ln w="9525">
            <a:noFill/>
          </a:ln>
        </p:spPr>
      </p:pic>
      <p:sp>
        <p:nvSpPr>
          <p:cNvPr id="100" name="文本框 2"/>
          <p:cNvSpPr/>
          <p:nvPr/>
        </p:nvSpPr>
        <p:spPr>
          <a:xfrm>
            <a:off x="1260360" y="2903400"/>
            <a:ext cx="21632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(a)</a:t>
            </a:r>
            <a:r>
              <a:rPr b="0" lang="en-US" sz="1800" spc="-1" strike="noStrike">
                <a:solidFill>
                  <a:srgbClr val="000000"/>
                </a:solidFill>
                <a:latin typeface="宋体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Rough Slopes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文本框 3"/>
          <p:cNvSpPr/>
          <p:nvPr/>
        </p:nvSpPr>
        <p:spPr>
          <a:xfrm>
            <a:off x="5124600" y="2903760"/>
            <a:ext cx="233820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(b)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Discrete Obstacles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文本框 4"/>
          <p:cNvSpPr/>
          <p:nvPr/>
        </p:nvSpPr>
        <p:spPr>
          <a:xfrm>
            <a:off x="8987040" y="2903760"/>
            <a:ext cx="252576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(c)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Rough Flat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03" name="图片 2" descr="截图 2026-06-24 23-27-01"/>
          <p:cNvPicPr/>
          <p:nvPr/>
        </p:nvPicPr>
        <p:blipFill>
          <a:blip r:embed="rId3"/>
          <a:srcRect l="19512" t="19794" r="15644" b="15171"/>
          <a:stretch/>
        </p:blipFill>
        <p:spPr>
          <a:xfrm>
            <a:off x="4344840" y="628560"/>
            <a:ext cx="3640680" cy="2068560"/>
          </a:xfrm>
          <a:prstGeom prst="rect">
            <a:avLst/>
          </a:prstGeom>
          <a:ln w="0">
            <a:noFill/>
          </a:ln>
        </p:spPr>
      </p:pic>
      <p:pic>
        <p:nvPicPr>
          <p:cNvPr id="104" name="图片 1" descr="Figure_1"/>
          <p:cNvPicPr/>
          <p:nvPr/>
        </p:nvPicPr>
        <p:blipFill>
          <a:blip r:embed="rId4"/>
          <a:srcRect l="28636" t="35392" r="25603" b="21457"/>
          <a:stretch/>
        </p:blipFill>
        <p:spPr>
          <a:xfrm>
            <a:off x="5162400" y="3887640"/>
            <a:ext cx="2163240" cy="2068200"/>
          </a:xfrm>
          <a:prstGeom prst="rect">
            <a:avLst/>
          </a:prstGeom>
          <a:ln w="9525">
            <a:solidFill>
              <a:srgbClr val="e7e6e6"/>
            </a:solidFill>
            <a:miter/>
          </a:ln>
        </p:spPr>
      </p:pic>
      <p:pic>
        <p:nvPicPr>
          <p:cNvPr id="105" name="图片 4" descr="Figure_2"/>
          <p:cNvPicPr/>
          <p:nvPr/>
        </p:nvPicPr>
        <p:blipFill>
          <a:blip r:embed="rId5"/>
          <a:srcRect l="13176" t="12441" r="53320" b="12421"/>
          <a:stretch/>
        </p:blipFill>
        <p:spPr>
          <a:xfrm>
            <a:off x="7904160" y="3886200"/>
            <a:ext cx="2163240" cy="2069640"/>
          </a:xfrm>
          <a:prstGeom prst="rect">
            <a:avLst/>
          </a:prstGeom>
          <a:ln w="9525">
            <a:noFill/>
          </a:ln>
        </p:spPr>
      </p:pic>
      <p:sp>
        <p:nvSpPr>
          <p:cNvPr id="106" name="文本框 2"/>
          <p:cNvSpPr/>
          <p:nvPr/>
        </p:nvSpPr>
        <p:spPr>
          <a:xfrm>
            <a:off x="5505480" y="5956200"/>
            <a:ext cx="182160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(a)</a:t>
            </a:r>
            <a:r>
              <a:rPr b="0" lang="en-US" sz="1800" spc="-1" strike="noStrike">
                <a:solidFill>
                  <a:srgbClr val="000000"/>
                </a:solidFill>
                <a:latin typeface="宋体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Depth Image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7" name="文本框 2"/>
          <p:cNvSpPr/>
          <p:nvPr/>
        </p:nvSpPr>
        <p:spPr>
          <a:xfrm>
            <a:off x="8238960" y="5956200"/>
            <a:ext cx="193716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(b)</a:t>
            </a:r>
            <a:r>
              <a:rPr b="0" lang="en-US" sz="1800" spc="-1" strike="noStrike">
                <a:solidFill>
                  <a:srgbClr val="000000"/>
                </a:solidFill>
                <a:latin typeface="宋体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BEV Image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08" name="图片 6" descr=""/>
          <p:cNvPicPr/>
          <p:nvPr/>
        </p:nvPicPr>
        <p:blipFill>
          <a:blip r:embed="rId6"/>
          <a:srcRect l="0" t="0" r="0" b="8092"/>
          <a:stretch/>
        </p:blipFill>
        <p:spPr>
          <a:xfrm>
            <a:off x="2440080" y="4530600"/>
            <a:ext cx="2309400" cy="1160280"/>
          </a:xfrm>
          <a:prstGeom prst="rect">
            <a:avLst/>
          </a:prstGeom>
          <a:ln w="9525">
            <a:noFill/>
          </a:ln>
        </p:spPr>
      </p:pic>
      <p:sp>
        <p:nvSpPr>
          <p:cNvPr id="109" name="箭头: 右 7"/>
          <p:cNvSpPr/>
          <p:nvPr/>
        </p:nvSpPr>
        <p:spPr>
          <a:xfrm>
            <a:off x="4749840" y="4862520"/>
            <a:ext cx="312480" cy="247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75000"/>
            </a:schemeClr>
          </a:solidFill>
          <a:ln>
            <a:solidFill>
              <a:srgbClr val="1f32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箭头: 右 8"/>
          <p:cNvSpPr/>
          <p:nvPr/>
        </p:nvSpPr>
        <p:spPr>
          <a:xfrm>
            <a:off x="7462800" y="4862520"/>
            <a:ext cx="312480" cy="247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75000"/>
            </a:schemeClr>
          </a:solidFill>
          <a:ln>
            <a:solidFill>
              <a:srgbClr val="1f32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 txBox="1"/>
          <p:nvPr/>
        </p:nvSpPr>
        <p:spPr>
          <a:xfrm>
            <a:off x="324000" y="72720"/>
            <a:ext cx="11544120" cy="38052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24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Hierarchical Visual Navigation and Locomotion Framework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24000" y="441360"/>
            <a:ext cx="11544120" cy="21888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50" spc="-1" strike="noStrike">
                <a:solidFill>
                  <a:srgbClr val="536878"/>
                </a:solidFill>
                <a:latin typeface="Times New Roman"/>
                <a:ea typeface="Microsoft YaHei"/>
              </a:rPr>
              <a:t>Completed Chapter 3 system and evaluation pipeline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108000" y="792000"/>
            <a:ext cx="2484000" cy="2394000"/>
          </a:xfrm>
          <a:prstGeom prst="roundRect">
            <a:avLst/>
          </a:prstGeom>
          <a:solidFill>
            <a:srgbClr val="ffffff"/>
          </a:solidFill>
          <a:ln w="12240">
            <a:solidFill>
              <a:srgbClr val="17365d"/>
            </a:solidFill>
            <a:custDash>
              <a:ds d="647059" sp="352941"/>
            </a:custDash>
            <a:round/>
          </a:ln>
        </p:spPr>
      </p:sp>
      <p:sp>
        <p:nvSpPr>
          <p:cNvPr id="114" name=""/>
          <p:cNvSpPr txBox="1"/>
          <p:nvPr/>
        </p:nvSpPr>
        <p:spPr>
          <a:xfrm>
            <a:off x="194400" y="866520"/>
            <a:ext cx="2311200" cy="2538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Perception Inputs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736000" y="792000"/>
            <a:ext cx="5976000" cy="2394000"/>
          </a:xfrm>
          <a:prstGeom prst="roundRect">
            <a:avLst/>
          </a:prstGeom>
          <a:solidFill>
            <a:srgbClr val="fce4d6"/>
          </a:solidFill>
          <a:ln w="12240">
            <a:solidFill>
              <a:srgbClr val="17365d"/>
            </a:solidFill>
            <a:round/>
          </a:ln>
        </p:spPr>
      </p:sp>
      <p:sp>
        <p:nvSpPr>
          <p:cNvPr id="116" name=""/>
          <p:cNvSpPr txBox="1"/>
          <p:nvPr/>
        </p:nvSpPr>
        <p:spPr>
          <a:xfrm>
            <a:off x="2822400" y="866520"/>
            <a:ext cx="5803200" cy="2538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Local Perception and Planning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08000" y="3636000"/>
            <a:ext cx="2484000" cy="2484000"/>
          </a:xfrm>
          <a:prstGeom prst="roundRect">
            <a:avLst/>
          </a:prstGeom>
          <a:solidFill>
            <a:srgbClr val="ffffff"/>
          </a:solidFill>
          <a:ln w="12240">
            <a:solidFill>
              <a:srgbClr val="17365d"/>
            </a:solidFill>
            <a:custDash>
              <a:ds d="647059" sp="352941"/>
            </a:custDash>
            <a:round/>
          </a:ln>
        </p:spPr>
      </p:sp>
      <p:sp>
        <p:nvSpPr>
          <p:cNvPr id="118" name=""/>
          <p:cNvSpPr txBox="1"/>
          <p:nvPr/>
        </p:nvSpPr>
        <p:spPr>
          <a:xfrm>
            <a:off x="194400" y="3710520"/>
            <a:ext cx="2311200" cy="2538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Locomotion Inputs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2736000" y="3636000"/>
            <a:ext cx="5976000" cy="2484000"/>
          </a:xfrm>
          <a:prstGeom prst="roundRect">
            <a:avLst/>
          </a:prstGeom>
          <a:solidFill>
            <a:srgbClr val="d9e2f3"/>
          </a:solidFill>
          <a:ln w="12240">
            <a:solidFill>
              <a:srgbClr val="17365d"/>
            </a:solidFill>
            <a:round/>
          </a:ln>
        </p:spPr>
      </p:sp>
      <p:sp>
        <p:nvSpPr>
          <p:cNvPr id="120" name=""/>
          <p:cNvSpPr txBox="1"/>
          <p:nvPr/>
        </p:nvSpPr>
        <p:spPr>
          <a:xfrm>
            <a:off x="2822400" y="3710520"/>
            <a:ext cx="5803200" cy="2538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HIMLoco Locomotion Controller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8892000" y="792000"/>
            <a:ext cx="3186000" cy="5328000"/>
          </a:xfrm>
          <a:prstGeom prst="roundRect">
            <a:avLst/>
          </a:prstGeom>
          <a:solidFill>
            <a:srgbClr val="e2f0d9"/>
          </a:solidFill>
          <a:ln w="12240">
            <a:solidFill>
              <a:srgbClr val="17365d"/>
            </a:solidFill>
            <a:round/>
          </a:ln>
        </p:spPr>
      </p:sp>
      <p:sp>
        <p:nvSpPr>
          <p:cNvPr id="122" name=""/>
          <p:cNvSpPr txBox="1"/>
          <p:nvPr/>
        </p:nvSpPr>
        <p:spPr>
          <a:xfrm>
            <a:off x="8978400" y="866520"/>
            <a:ext cx="3013200" cy="2538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Completed Experiments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259200" y="1116000"/>
            <a:ext cx="1029600" cy="579600"/>
          </a:xfrm>
          <a:prstGeom prst="rect">
            <a:avLst/>
          </a:prstGeom>
          <a:ln w="7200">
            <a:solidFill>
              <a:srgbClr val="17365d"/>
            </a:solidFill>
            <a:round/>
          </a:ln>
        </p:spPr>
      </p:pic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1404000" y="1116000"/>
            <a:ext cx="1029600" cy="579600"/>
          </a:xfrm>
          <a:prstGeom prst="rect">
            <a:avLst/>
          </a:prstGeom>
          <a:ln w="7200">
            <a:solidFill>
              <a:srgbClr val="17365d"/>
            </a:solidFill>
            <a:round/>
          </a:ln>
        </p:spPr>
      </p:pic>
      <p:sp>
        <p:nvSpPr>
          <p:cNvPr id="125" name=""/>
          <p:cNvSpPr txBox="1"/>
          <p:nvPr/>
        </p:nvSpPr>
        <p:spPr>
          <a:xfrm>
            <a:off x="259200" y="1892880"/>
            <a:ext cx="1029600" cy="20664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D435i RGB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404000" y="1892880"/>
            <a:ext cx="1029600" cy="20664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D435i Depth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378000" y="1908000"/>
            <a:ext cx="1944000" cy="450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VIO Pose</a:t>
            </a:r>
            <a:endParaRPr b="0" lang="en-US" sz="1250" spc="-1" strike="noStrike">
              <a:latin typeface="Arial"/>
            </a:endParaRPr>
          </a:p>
          <a:p>
            <a:pPr algn="ctr">
              <a:buNone/>
            </a:pPr>
            <a:r>
              <a:rPr b="0" lang="en-US" sz="12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(ideal or noisy)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378000" y="2520000"/>
            <a:ext cx="1944000" cy="378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4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Local Goal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988000" y="113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RGB-D Projection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Point Cloud to BEV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932000" y="113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Local BEV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Height / Obstacles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876000" y="113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Dual-layer Cost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Hard + Soft Safety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2988000" y="230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FMM Reference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Corridor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932000" y="230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Footprint MPPI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Trajectory Optimization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876000" y="2304000"/>
            <a:ext cx="1440000" cy="522000"/>
          </a:xfrm>
          <a:prstGeom prst="roundRect">
            <a:avLst/>
          </a:prstGeom>
          <a:solidFill>
            <a:srgbClr val="f8cbad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Velocity Command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(vx, wz)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4428000" y="1319400"/>
            <a:ext cx="504000" cy="151200"/>
          </a:xfrm>
          <a:custGeom>
            <a:avLst/>
            <a:gdLst/>
            <a:ahLst/>
            <a:rect l="0" t="0" r="r" b="b"/>
            <a:pathLst>
              <a:path w="1400" h="420">
                <a:moveTo>
                  <a:pt x="0" y="150"/>
                </a:moveTo>
                <a:lnTo>
                  <a:pt x="1020" y="150"/>
                </a:lnTo>
                <a:lnTo>
                  <a:pt x="1020" y="0"/>
                </a:lnTo>
                <a:lnTo>
                  <a:pt x="1400" y="210"/>
                </a:lnTo>
                <a:lnTo>
                  <a:pt x="1020" y="420"/>
                </a:lnTo>
                <a:lnTo>
                  <a:pt x="10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136" name=""/>
          <p:cNvSpPr/>
          <p:nvPr/>
        </p:nvSpPr>
        <p:spPr>
          <a:xfrm>
            <a:off x="6372000" y="1319400"/>
            <a:ext cx="504000" cy="151200"/>
          </a:xfrm>
          <a:custGeom>
            <a:avLst/>
            <a:gdLst/>
            <a:ahLst/>
            <a:rect l="0" t="0" r="r" b="b"/>
            <a:pathLst>
              <a:path w="1400" h="420">
                <a:moveTo>
                  <a:pt x="0" y="150"/>
                </a:moveTo>
                <a:lnTo>
                  <a:pt x="1020" y="150"/>
                </a:lnTo>
                <a:lnTo>
                  <a:pt x="1020" y="0"/>
                </a:lnTo>
                <a:lnTo>
                  <a:pt x="1400" y="210"/>
                </a:lnTo>
                <a:lnTo>
                  <a:pt x="1020" y="420"/>
                </a:lnTo>
                <a:lnTo>
                  <a:pt x="10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137" name=""/>
          <p:cNvSpPr/>
          <p:nvPr/>
        </p:nvSpPr>
        <p:spPr>
          <a:xfrm>
            <a:off x="7596000" y="1656000"/>
            <a:ext cx="0" cy="360000"/>
          </a:xfrm>
          <a:prstGeom prst="line">
            <a:avLst/>
          </a:prstGeom>
          <a:ln w="1008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3708000" y="2016000"/>
            <a:ext cx="3888000" cy="0"/>
          </a:xfrm>
          <a:prstGeom prst="line">
            <a:avLst/>
          </a:prstGeom>
          <a:ln w="10080">
            <a:solidFill>
              <a:srgbClr val="17365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"/>
          <p:cNvSpPr/>
          <p:nvPr/>
        </p:nvSpPr>
        <p:spPr>
          <a:xfrm>
            <a:off x="3645000" y="2016000"/>
            <a:ext cx="126000" cy="252000"/>
          </a:xfrm>
          <a:custGeom>
            <a:avLst/>
            <a:gdLst/>
            <a:ahLst/>
            <a:rect l="0" t="0" r="r" b="b"/>
            <a:pathLst>
              <a:path w="350" h="700">
                <a:moveTo>
                  <a:pt x="130" y="0"/>
                </a:moveTo>
                <a:lnTo>
                  <a:pt x="220" y="0"/>
                </a:lnTo>
                <a:lnTo>
                  <a:pt x="220" y="380"/>
                </a:lnTo>
                <a:lnTo>
                  <a:pt x="350" y="380"/>
                </a:lnTo>
                <a:lnTo>
                  <a:pt x="175" y="700"/>
                </a:lnTo>
                <a:lnTo>
                  <a:pt x="0" y="380"/>
                </a:lnTo>
                <a:lnTo>
                  <a:pt x="130" y="380"/>
                </a:lnTo>
                <a:lnTo>
                  <a:pt x="130" y="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140" name=""/>
          <p:cNvSpPr/>
          <p:nvPr/>
        </p:nvSpPr>
        <p:spPr>
          <a:xfrm>
            <a:off x="4428000" y="2489400"/>
            <a:ext cx="504000" cy="151200"/>
          </a:xfrm>
          <a:custGeom>
            <a:avLst/>
            <a:gdLst/>
            <a:ahLst/>
            <a:rect l="0" t="0" r="r" b="b"/>
            <a:pathLst>
              <a:path w="1400" h="420">
                <a:moveTo>
                  <a:pt x="0" y="150"/>
                </a:moveTo>
                <a:lnTo>
                  <a:pt x="1020" y="150"/>
                </a:lnTo>
                <a:lnTo>
                  <a:pt x="1020" y="0"/>
                </a:lnTo>
                <a:lnTo>
                  <a:pt x="1400" y="210"/>
                </a:lnTo>
                <a:lnTo>
                  <a:pt x="1020" y="420"/>
                </a:lnTo>
                <a:lnTo>
                  <a:pt x="10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141" name=""/>
          <p:cNvSpPr/>
          <p:nvPr/>
        </p:nvSpPr>
        <p:spPr>
          <a:xfrm>
            <a:off x="6372000" y="2489400"/>
            <a:ext cx="504000" cy="151200"/>
          </a:xfrm>
          <a:custGeom>
            <a:avLst/>
            <a:gdLst/>
            <a:ahLst/>
            <a:rect l="0" t="0" r="r" b="b"/>
            <a:pathLst>
              <a:path w="1400" h="420">
                <a:moveTo>
                  <a:pt x="0" y="150"/>
                </a:moveTo>
                <a:lnTo>
                  <a:pt x="1020" y="150"/>
                </a:lnTo>
                <a:lnTo>
                  <a:pt x="1020" y="0"/>
                </a:lnTo>
                <a:lnTo>
                  <a:pt x="1400" y="210"/>
                </a:lnTo>
                <a:lnTo>
                  <a:pt x="1020" y="420"/>
                </a:lnTo>
                <a:lnTo>
                  <a:pt x="10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142" name=""/>
          <p:cNvSpPr/>
          <p:nvPr/>
        </p:nvSpPr>
        <p:spPr>
          <a:xfrm>
            <a:off x="378000" y="3924000"/>
            <a:ext cx="1944000" cy="414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4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Desired Base Velocity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78000" y="4554000"/>
            <a:ext cx="1944000" cy="414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4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Proprioceptive State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378000" y="5184000"/>
            <a:ext cx="1944000" cy="414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4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Historical Observations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3024000" y="4428000"/>
            <a:ext cx="1296000" cy="612000"/>
          </a:xfrm>
          <a:prstGeom prst="roundRect">
            <a:avLst/>
          </a:prstGeom>
          <a:solidFill>
            <a:srgbClr val="b4c6e7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State and History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Encoder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4860000" y="4248000"/>
            <a:ext cx="1728000" cy="954000"/>
          </a:xfrm>
          <a:prstGeom prst="roundRect">
            <a:avLst/>
          </a:prstGeom>
          <a:solidFill>
            <a:srgbClr val="b4c6e7"/>
          </a:solidFill>
          <a:ln w="1224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HIMLoco</a:t>
            </a:r>
            <a:endParaRPr b="0" lang="en-US" sz="1800" spc="-1" strike="noStrike">
              <a:latin typeface="Arial"/>
            </a:endParaRPr>
          </a:p>
          <a:p>
            <a:pPr algn="ctr">
              <a:buNone/>
            </a:pPr>
            <a:r>
              <a:rPr b="1" lang="en-US" sz="180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Policy Network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128000" y="4428000"/>
            <a:ext cx="1296000" cy="612000"/>
          </a:xfrm>
          <a:prstGeom prst="roundRect">
            <a:avLst/>
          </a:prstGeom>
          <a:solidFill>
            <a:srgbClr val="b4c6e7"/>
          </a:solidFill>
          <a:ln w="1080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Joint Position</a:t>
            </a:r>
            <a:endParaRPr b="0" lang="en-US" sz="1220" spc="-1" strike="noStrike">
              <a:latin typeface="Arial"/>
            </a:endParaRPr>
          </a:p>
          <a:p>
            <a:pPr algn="ctr">
              <a:buNone/>
            </a:pPr>
            <a:r>
              <a:rPr b="0" lang="en-US" sz="122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Targets</a:t>
            </a:r>
            <a:endParaRPr b="0" lang="en-US" sz="1220" spc="-1" strike="noStrike"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4320000" y="4658400"/>
            <a:ext cx="540000" cy="151200"/>
          </a:xfrm>
          <a:custGeom>
            <a:avLst/>
            <a:gdLst/>
            <a:ahLst/>
            <a:rect l="0" t="0" r="r" b="b"/>
            <a:pathLst>
              <a:path w="1500" h="420">
                <a:moveTo>
                  <a:pt x="0" y="150"/>
                </a:moveTo>
                <a:lnTo>
                  <a:pt x="1120" y="150"/>
                </a:lnTo>
                <a:lnTo>
                  <a:pt x="1120" y="0"/>
                </a:lnTo>
                <a:lnTo>
                  <a:pt x="1500" y="210"/>
                </a:lnTo>
                <a:lnTo>
                  <a:pt x="1120" y="420"/>
                </a:lnTo>
                <a:lnTo>
                  <a:pt x="11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149" name=""/>
          <p:cNvSpPr/>
          <p:nvPr/>
        </p:nvSpPr>
        <p:spPr>
          <a:xfrm>
            <a:off x="6588000" y="4658400"/>
            <a:ext cx="540000" cy="151200"/>
          </a:xfrm>
          <a:custGeom>
            <a:avLst/>
            <a:gdLst/>
            <a:ahLst/>
            <a:rect l="0" t="0" r="r" b="b"/>
            <a:pathLst>
              <a:path w="1500" h="420">
                <a:moveTo>
                  <a:pt x="0" y="150"/>
                </a:moveTo>
                <a:lnTo>
                  <a:pt x="1120" y="150"/>
                </a:lnTo>
                <a:lnTo>
                  <a:pt x="1120" y="0"/>
                </a:lnTo>
                <a:lnTo>
                  <a:pt x="1500" y="210"/>
                </a:lnTo>
                <a:lnTo>
                  <a:pt x="1120" y="420"/>
                </a:lnTo>
                <a:lnTo>
                  <a:pt x="1120" y="270"/>
                </a:lnTo>
                <a:lnTo>
                  <a:pt x="0" y="270"/>
                </a:lnTo>
                <a:lnTo>
                  <a:pt x="0" y="15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150" name=""/>
          <p:cNvSpPr txBox="1"/>
          <p:nvPr/>
        </p:nvSpPr>
        <p:spPr>
          <a:xfrm>
            <a:off x="3031200" y="5479920"/>
            <a:ext cx="5364000" cy="22500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300" spc="-1" strike="noStrike">
                <a:solidFill>
                  <a:srgbClr val="536878"/>
                </a:solidFill>
                <a:latin typeface="Times New Roman"/>
                <a:ea typeface="Microsoft YaHei"/>
              </a:rPr>
              <a:t>Shared locomotion policy for all navigation planners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2516400" y="1904400"/>
            <a:ext cx="165600" cy="187200"/>
          </a:xfrm>
          <a:custGeom>
            <a:avLst/>
            <a:gdLst/>
            <a:ahLst/>
            <a:rect l="0" t="0" r="r" b="b"/>
            <a:pathLst>
              <a:path w="460" h="520">
                <a:moveTo>
                  <a:pt x="310" y="185"/>
                </a:moveTo>
                <a:lnTo>
                  <a:pt x="0" y="185"/>
                </a:lnTo>
                <a:lnTo>
                  <a:pt x="0" y="0"/>
                </a:lnTo>
                <a:lnTo>
                  <a:pt x="460" y="260"/>
                </a:lnTo>
                <a:lnTo>
                  <a:pt x="0" y="520"/>
                </a:lnTo>
                <a:lnTo>
                  <a:pt x="0" y="335"/>
                </a:lnTo>
                <a:lnTo>
                  <a:pt x="310" y="335"/>
                </a:lnTo>
                <a:lnTo>
                  <a:pt x="310" y="185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152" name=""/>
          <p:cNvSpPr/>
          <p:nvPr/>
        </p:nvSpPr>
        <p:spPr>
          <a:xfrm>
            <a:off x="7502400" y="3222000"/>
            <a:ext cx="187200" cy="990000"/>
          </a:xfrm>
          <a:custGeom>
            <a:avLst/>
            <a:gdLst/>
            <a:ahLst/>
            <a:rect l="0" t="0" r="r" b="b"/>
            <a:pathLst>
              <a:path w="520" h="2750">
                <a:moveTo>
                  <a:pt x="185" y="0"/>
                </a:moveTo>
                <a:lnTo>
                  <a:pt x="335" y="0"/>
                </a:lnTo>
                <a:lnTo>
                  <a:pt x="335" y="2290"/>
                </a:lnTo>
                <a:lnTo>
                  <a:pt x="520" y="2290"/>
                </a:lnTo>
                <a:lnTo>
                  <a:pt x="260" y="2750"/>
                </a:lnTo>
                <a:lnTo>
                  <a:pt x="0" y="2290"/>
                </a:lnTo>
                <a:lnTo>
                  <a:pt x="185" y="2290"/>
                </a:lnTo>
                <a:lnTo>
                  <a:pt x="185" y="0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sp>
        <p:nvSpPr>
          <p:cNvPr id="153" name=""/>
          <p:cNvSpPr/>
          <p:nvPr/>
        </p:nvSpPr>
        <p:spPr>
          <a:xfrm>
            <a:off x="2516400" y="4676400"/>
            <a:ext cx="165600" cy="187200"/>
          </a:xfrm>
          <a:custGeom>
            <a:avLst/>
            <a:gdLst/>
            <a:ahLst/>
            <a:rect l="0" t="0" r="r" b="b"/>
            <a:pathLst>
              <a:path w="460" h="520">
                <a:moveTo>
                  <a:pt x="310" y="185"/>
                </a:moveTo>
                <a:lnTo>
                  <a:pt x="0" y="185"/>
                </a:lnTo>
                <a:lnTo>
                  <a:pt x="0" y="0"/>
                </a:lnTo>
                <a:lnTo>
                  <a:pt x="460" y="260"/>
                </a:lnTo>
                <a:lnTo>
                  <a:pt x="0" y="520"/>
                </a:lnTo>
                <a:lnTo>
                  <a:pt x="0" y="335"/>
                </a:lnTo>
                <a:lnTo>
                  <a:pt x="310" y="335"/>
                </a:lnTo>
                <a:lnTo>
                  <a:pt x="310" y="185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  <p:pic>
        <p:nvPicPr>
          <p:cNvPr id="154" name="" descr=""/>
          <p:cNvPicPr/>
          <p:nvPr/>
        </p:nvPicPr>
        <p:blipFill>
          <a:blip r:embed="rId3"/>
          <a:stretch/>
        </p:blipFill>
        <p:spPr>
          <a:xfrm>
            <a:off x="9036000" y="1116000"/>
            <a:ext cx="2898000" cy="738000"/>
          </a:xfrm>
          <a:prstGeom prst="rect">
            <a:avLst/>
          </a:prstGeom>
          <a:ln w="7200">
            <a:solidFill>
              <a:srgbClr val="17365d"/>
            </a:solidFill>
            <a:round/>
          </a:ln>
        </p:spPr>
      </p:pic>
      <p:sp>
        <p:nvSpPr>
          <p:cNvPr id="155" name=""/>
          <p:cNvSpPr/>
          <p:nvPr/>
        </p:nvSpPr>
        <p:spPr>
          <a:xfrm>
            <a:off x="9144000" y="1962000"/>
            <a:ext cx="2682000" cy="558000"/>
          </a:xfrm>
          <a:prstGeom prst="roundRect">
            <a:avLst/>
          </a:prstGeom>
          <a:solidFill>
            <a:srgbClr val="c6e0b4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Three difficulty levels</a:t>
            </a:r>
            <a:endParaRPr b="0" lang="en-US" sz="1150" spc="-1" strike="noStrike">
              <a:latin typeface="Arial"/>
            </a:endParaRPr>
          </a:p>
          <a:p>
            <a:pPr algn="ctr">
              <a:buNone/>
            </a:pP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30 fixed seeds per method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9144000" y="2646000"/>
            <a:ext cx="2682000" cy="558000"/>
          </a:xfrm>
          <a:prstGeom prst="roundRect">
            <a:avLst/>
          </a:prstGeom>
          <a:solidFill>
            <a:srgbClr val="c6e0b4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Internal ablation</a:t>
            </a:r>
            <a:endParaRPr b="0" lang="en-US" sz="1150" spc="-1" strike="noStrike">
              <a:latin typeface="Arial"/>
            </a:endParaRPr>
          </a:p>
          <a:p>
            <a:pPr algn="ctr">
              <a:buNone/>
            </a:pP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Fixed FMM, Dual-layer FMM,</a:t>
            </a:r>
            <a:endParaRPr b="0" lang="en-US" sz="1150" spc="-1" strike="noStrike">
              <a:latin typeface="Arial"/>
            </a:endParaRPr>
          </a:p>
          <a:p>
            <a:pPr algn="ctr">
              <a:buNone/>
            </a:pP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Footprint MPPI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9144000" y="3330000"/>
            <a:ext cx="2682000" cy="558000"/>
          </a:xfrm>
          <a:prstGeom prst="roundRect">
            <a:avLst/>
          </a:prstGeom>
          <a:solidFill>
            <a:srgbClr val="c6e0b4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External comparison</a:t>
            </a:r>
            <a:endParaRPr b="0" lang="en-US" sz="1150" spc="-1" strike="noStrike">
              <a:latin typeface="Arial"/>
            </a:endParaRPr>
          </a:p>
          <a:p>
            <a:pPr algn="ctr">
              <a:buNone/>
            </a:pP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iPlanner, PS-DWA, SAPF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9144000" y="4014000"/>
            <a:ext cx="2682000" cy="558000"/>
          </a:xfrm>
          <a:prstGeom prst="roundRect">
            <a:avLst/>
          </a:prstGeom>
          <a:solidFill>
            <a:srgbClr val="c6e0b4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VIO robustness</a:t>
            </a:r>
            <a:endParaRPr b="0" lang="en-US" sz="1150" spc="-1" strike="noStrike">
              <a:latin typeface="Arial"/>
            </a:endParaRPr>
          </a:p>
          <a:p>
            <a:pPr algn="ctr">
              <a:buNone/>
            </a:pPr>
            <a:r>
              <a:rPr b="0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ideal, mild, medium, severe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9144000" y="4698000"/>
            <a:ext cx="2682000" cy="558000"/>
          </a:xfrm>
          <a:prstGeom prst="roundRect">
            <a:avLst/>
          </a:prstGeom>
          <a:solidFill>
            <a:srgbClr val="a9d18e"/>
          </a:solidFill>
          <a:ln w="10080">
            <a:solidFill>
              <a:srgbClr val="17365d"/>
            </a:solidFill>
            <a:round/>
          </a:ln>
        </p:spPr>
        <p:txBody>
          <a:bodyPr lIns="46800" rIns="46800" tIns="21600" bIns="21600" anchor="ctr" anchorCtr="1">
            <a:noAutofit/>
          </a:bodyPr>
          <a:p>
            <a:pPr algn="ctr">
              <a:buNone/>
            </a:pPr>
            <a:r>
              <a:rPr b="1" lang="en-US" sz="1150" spc="-1" strike="noStrike">
                <a:solidFill>
                  <a:srgbClr val="1f2d3d"/>
                </a:solidFill>
                <a:latin typeface="Times New Roman"/>
                <a:ea typeface="Microsoft YaHei"/>
              </a:rPr>
              <a:t>750 formal closed-loop trials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8668800" y="4640400"/>
            <a:ext cx="165600" cy="187200"/>
          </a:xfrm>
          <a:custGeom>
            <a:avLst/>
            <a:gdLst/>
            <a:ahLst/>
            <a:rect l="0" t="0" r="r" b="b"/>
            <a:pathLst>
              <a:path w="460" h="520">
                <a:moveTo>
                  <a:pt x="240" y="185"/>
                </a:moveTo>
                <a:lnTo>
                  <a:pt x="0" y="185"/>
                </a:lnTo>
                <a:lnTo>
                  <a:pt x="0" y="0"/>
                </a:lnTo>
                <a:lnTo>
                  <a:pt x="460" y="260"/>
                </a:lnTo>
                <a:lnTo>
                  <a:pt x="0" y="520"/>
                </a:lnTo>
                <a:lnTo>
                  <a:pt x="0" y="335"/>
                </a:lnTo>
                <a:lnTo>
                  <a:pt x="240" y="335"/>
                </a:lnTo>
                <a:lnTo>
                  <a:pt x="240" y="185"/>
                </a:lnTo>
                <a:close/>
              </a:path>
            </a:pathLst>
          </a:custGeom>
          <a:solidFill>
            <a:srgbClr val="8eaadb"/>
          </a:solidFill>
          <a:ln w="7920">
            <a:solidFill>
              <a:srgbClr val="17365d"/>
            </a:solidFill>
            <a:round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 17"/>
          <p:cNvSpPr/>
          <p:nvPr/>
        </p:nvSpPr>
        <p:spPr>
          <a:xfrm>
            <a:off x="6375240" y="360360"/>
            <a:ext cx="2925360" cy="2819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62" name="图片 3" descr="Figure_1"/>
          <p:cNvPicPr/>
          <p:nvPr/>
        </p:nvPicPr>
        <p:blipFill>
          <a:blip r:embed="rId1"/>
          <a:srcRect l="28636" t="35392" r="10907" b="21457"/>
          <a:stretch/>
        </p:blipFill>
        <p:spPr>
          <a:xfrm>
            <a:off x="561960" y="1046160"/>
            <a:ext cx="1841040" cy="1277640"/>
          </a:xfrm>
          <a:prstGeom prst="rect">
            <a:avLst/>
          </a:prstGeom>
          <a:ln w="9525">
            <a:solidFill>
              <a:srgbClr val="ffffff">
                <a:lumMod val="75000"/>
              </a:srgbClr>
            </a:solidFill>
            <a:miter/>
          </a:ln>
        </p:spPr>
      </p:pic>
      <p:pic>
        <p:nvPicPr>
          <p:cNvPr id="163" name="图片 8" descr=""/>
          <p:cNvPicPr/>
          <p:nvPr/>
        </p:nvPicPr>
        <p:blipFill>
          <a:blip r:embed="rId2"/>
          <a:srcRect l="19634" t="23327" r="14285" b="5329"/>
          <a:stretch/>
        </p:blipFill>
        <p:spPr>
          <a:xfrm>
            <a:off x="547560" y="3895560"/>
            <a:ext cx="3698640" cy="2338200"/>
          </a:xfrm>
          <a:prstGeom prst="rect">
            <a:avLst/>
          </a:prstGeom>
          <a:ln w="9525">
            <a:solidFill>
              <a:srgbClr val="ffffff"/>
            </a:solidFill>
            <a:miter/>
          </a:ln>
        </p:spPr>
      </p:pic>
      <p:sp>
        <p:nvSpPr>
          <p:cNvPr id="164" name="连接符: 曲线 11"/>
          <p:cNvSpPr/>
          <p:nvPr/>
        </p:nvSpPr>
        <p:spPr>
          <a:xfrm flipV="1">
            <a:off x="4246560" y="1998360"/>
            <a:ext cx="2757240" cy="3065040"/>
          </a:xfrm>
          <a:prstGeom prst="curvedConnector3">
            <a:avLst>
              <a:gd name="adj1" fmla="val 37218"/>
            </a:avLst>
          </a:prstGeom>
          <a:noFill/>
          <a:ln>
            <a:solidFill>
              <a:srgbClr val="000000"/>
            </a:solidFill>
            <a:prstDash val="dash"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5" name="矩形: 圆角 15"/>
          <p:cNvSpPr/>
          <p:nvPr/>
        </p:nvSpPr>
        <p:spPr>
          <a:xfrm>
            <a:off x="7004160" y="554040"/>
            <a:ext cx="1636200" cy="58716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4874cb">
                <a:lumMod val="20000"/>
                <a:lumOff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Navigation Controller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6" name="矩形: 圆角 16"/>
          <p:cNvSpPr/>
          <p:nvPr/>
        </p:nvSpPr>
        <p:spPr>
          <a:xfrm>
            <a:off x="7004160" y="1704960"/>
            <a:ext cx="1636200" cy="587160"/>
          </a:xfrm>
          <a:prstGeom prst="roundRect">
            <a:avLst>
              <a:gd name="adj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4874cb">
                <a:lumMod val="20000"/>
                <a:lumOff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Gait Controller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7" name="矩形: 圆角 7"/>
          <p:cNvSpPr/>
          <p:nvPr/>
        </p:nvSpPr>
        <p:spPr>
          <a:xfrm>
            <a:off x="4459320" y="3068640"/>
            <a:ext cx="1658520" cy="54252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4874cb">
                <a:lumMod val="20000"/>
                <a:lumOff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Reinforcement Learning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68" name="图片 21" descr=""/>
          <p:cNvPicPr/>
          <p:nvPr/>
        </p:nvPicPr>
        <p:blipFill>
          <a:blip r:embed="rId3"/>
          <a:srcRect l="19685" t="5142" r="14408" b="5592"/>
          <a:stretch/>
        </p:blipFill>
        <p:spPr>
          <a:xfrm>
            <a:off x="2403360" y="406440"/>
            <a:ext cx="1842840" cy="1277640"/>
          </a:xfrm>
          <a:prstGeom prst="rect">
            <a:avLst/>
          </a:prstGeom>
          <a:ln w="9525">
            <a:noFill/>
          </a:ln>
        </p:spPr>
      </p:pic>
      <p:pic>
        <p:nvPicPr>
          <p:cNvPr id="169" name="图片 23" descr=""/>
          <p:cNvPicPr/>
          <p:nvPr/>
        </p:nvPicPr>
        <p:blipFill>
          <a:blip r:embed="rId4"/>
          <a:stretch/>
        </p:blipFill>
        <p:spPr>
          <a:xfrm>
            <a:off x="2403360" y="1684440"/>
            <a:ext cx="1842840" cy="1277640"/>
          </a:xfrm>
          <a:prstGeom prst="rect">
            <a:avLst/>
          </a:prstGeom>
          <a:ln w="9525">
            <a:noFill/>
          </a:ln>
        </p:spPr>
      </p:pic>
      <p:sp>
        <p:nvSpPr>
          <p:cNvPr id="170" name="连接符: 曲线 28"/>
          <p:cNvSpPr/>
          <p:nvPr/>
        </p:nvSpPr>
        <p:spPr>
          <a:xfrm flipV="1">
            <a:off x="4213080" y="847440"/>
            <a:ext cx="2790360" cy="552240"/>
          </a:xfrm>
          <a:prstGeom prst="curvedConnector3">
            <a:avLst>
              <a:gd name="adj1" fmla="val 50000"/>
            </a:avLst>
          </a:prstGeom>
          <a:noFill/>
          <a:ln>
            <a:solidFill>
              <a:srgbClr val="000000"/>
            </a:solidFill>
            <a:prstDash val="dash"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71" name="矩形: 圆角 6"/>
          <p:cNvSpPr/>
          <p:nvPr/>
        </p:nvSpPr>
        <p:spPr>
          <a:xfrm>
            <a:off x="4561920" y="897840"/>
            <a:ext cx="1498320" cy="50184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4874cb">
                <a:lumMod val="20000"/>
                <a:lumOff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Trajectory Planning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2" name="文本框 34"/>
          <p:cNvSpPr/>
          <p:nvPr/>
        </p:nvSpPr>
        <p:spPr>
          <a:xfrm>
            <a:off x="1054800" y="6234480"/>
            <a:ext cx="325224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Reward Function Driving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3" name="图片 6"/>
          <p:cNvSpPr/>
          <p:nvPr/>
        </p:nvSpPr>
        <p:spPr>
          <a:xfrm>
            <a:off x="5972400" y="3677760"/>
            <a:ext cx="3699360" cy="2631600"/>
          </a:xfrm>
          <a:prstGeom prst="roundRect">
            <a:avLst>
              <a:gd name="adj" fmla="val 16667"/>
            </a:avLst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直接箭头连接符 45"/>
          <p:cNvSpPr/>
          <p:nvPr/>
        </p:nvSpPr>
        <p:spPr>
          <a:xfrm>
            <a:off x="7821720" y="2292480"/>
            <a:ext cx="360" cy="1385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75" name="文本框 51"/>
          <p:cNvSpPr/>
          <p:nvPr/>
        </p:nvSpPr>
        <p:spPr>
          <a:xfrm>
            <a:off x="7697880" y="2430360"/>
            <a:ext cx="1566360" cy="515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Joint Position Commands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6" name="直接箭头连接符 58"/>
          <p:cNvSpPr/>
          <p:nvPr/>
        </p:nvSpPr>
        <p:spPr>
          <a:xfrm>
            <a:off x="7821720" y="1141560"/>
            <a:ext cx="360" cy="563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0000"/>
            </a:solidFill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77" name="文本框 65"/>
          <p:cNvSpPr/>
          <p:nvPr/>
        </p:nvSpPr>
        <p:spPr>
          <a:xfrm>
            <a:off x="547920" y="3069000"/>
            <a:ext cx="400788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Depth Camera Perception Driving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8" name="文本框 67"/>
          <p:cNvSpPr/>
          <p:nvPr/>
        </p:nvSpPr>
        <p:spPr>
          <a:xfrm>
            <a:off x="6118200" y="6310080"/>
            <a:ext cx="346932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Autonomous Navigation</a:t>
            </a: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179" name="图片 3076"/>
          <p:cNvGraphicFramePr/>
          <p:nvPr/>
        </p:nvGraphicFramePr>
        <p:xfrm>
          <a:off x="7927920" y="1322280"/>
          <a:ext cx="711000" cy="266400"/>
        </p:xfrm>
        <a:graphic>
          <a:graphicData uri="http://schemas.openxmlformats.org/presentationml/2006/ole">
            <p:oleObj progId="Equation.DSMT4" r:id="rId6" spid="">
              <p:embed/>
              <p:pic>
                <p:nvPicPr>
                  <p:cNvPr id="180" name="图片 3076" descr=""/>
                  <p:cNvPicPr/>
                  <p:nvPr/>
                </p:nvPicPr>
                <p:blipFill>
                  <a:blip r:embed="rId7"/>
                  <a:stretch/>
                </p:blipFill>
                <p:spPr>
                  <a:xfrm>
                    <a:off x="7927920" y="1322280"/>
                    <a:ext cx="711000" cy="266400"/>
                  </a:xfrm>
                  <a:prstGeom prst="rect">
                    <a:avLst/>
                  </a:prstGeom>
                  <a:ln w="38100">
                    <a:noFill/>
                  </a:ln>
                </p:spPr>
              </p:pic>
            </p:oleObj>
          </a:graphicData>
        </a:graphic>
      </p:graphicFrame>
      <p:pic>
        <p:nvPicPr>
          <p:cNvPr id="181" name="" descr=""/>
          <p:cNvPicPr/>
          <p:nvPr/>
        </p:nvPicPr>
        <p:blipFill>
          <a:blip r:embed="rId8"/>
          <a:stretch/>
        </p:blipFill>
        <p:spPr>
          <a:xfrm>
            <a:off x="7927920" y="1322280"/>
            <a:ext cx="711360" cy="26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图片 4" descr="截图 2026-04-24 14-52-10"/>
          <p:cNvPicPr/>
          <p:nvPr/>
        </p:nvPicPr>
        <p:blipFill>
          <a:blip r:embed="rId1"/>
          <a:srcRect l="2738" t="8812" r="14177" b="10933"/>
          <a:stretch/>
        </p:blipFill>
        <p:spPr>
          <a:xfrm>
            <a:off x="692280" y="316080"/>
            <a:ext cx="4843080" cy="2631600"/>
          </a:xfrm>
          <a:prstGeom prst="rect">
            <a:avLst/>
          </a:prstGeom>
          <a:ln w="9525">
            <a:noFill/>
          </a:ln>
        </p:spPr>
      </p:pic>
      <p:pic>
        <p:nvPicPr>
          <p:cNvPr id="183" name="图片 5" descr="截图 2026-04-24 14-53-02"/>
          <p:cNvPicPr/>
          <p:nvPr/>
        </p:nvPicPr>
        <p:blipFill>
          <a:blip r:embed="rId2"/>
          <a:srcRect l="2801" t="8997" r="14254" b="10898"/>
          <a:stretch/>
        </p:blipFill>
        <p:spPr>
          <a:xfrm>
            <a:off x="5834160" y="316080"/>
            <a:ext cx="4843080" cy="2630160"/>
          </a:xfrm>
          <a:prstGeom prst="rect">
            <a:avLst/>
          </a:prstGeom>
          <a:ln w="9525">
            <a:noFill/>
          </a:ln>
        </p:spPr>
      </p:pic>
      <p:pic>
        <p:nvPicPr>
          <p:cNvPr id="184" name="图片 7" descr="截图 2026-04-24 14-53-33"/>
          <p:cNvPicPr/>
          <p:nvPr/>
        </p:nvPicPr>
        <p:blipFill>
          <a:blip r:embed="rId3"/>
          <a:srcRect l="2640" t="8766" r="14157" b="11034"/>
          <a:stretch/>
        </p:blipFill>
        <p:spPr>
          <a:xfrm>
            <a:off x="5834160" y="3314880"/>
            <a:ext cx="4843080" cy="2631600"/>
          </a:xfrm>
          <a:prstGeom prst="rect">
            <a:avLst/>
          </a:prstGeom>
          <a:ln w="9525">
            <a:noFill/>
          </a:ln>
        </p:spPr>
      </p:pic>
      <p:pic>
        <p:nvPicPr>
          <p:cNvPr id="185" name="图片 6" descr="截图 2026-04-24 14-53-10"/>
          <p:cNvPicPr/>
          <p:nvPr/>
        </p:nvPicPr>
        <p:blipFill>
          <a:blip r:embed="rId4"/>
          <a:srcRect l="2659" t="8791" r="14256" b="10873"/>
          <a:stretch/>
        </p:blipFill>
        <p:spPr>
          <a:xfrm>
            <a:off x="692280" y="3314880"/>
            <a:ext cx="4844520" cy="2631600"/>
          </a:xfrm>
          <a:prstGeom prst="rect">
            <a:avLst/>
          </a:prstGeom>
          <a:ln w="9525">
            <a:noFill/>
          </a:ln>
        </p:spPr>
      </p:pic>
      <p:sp>
        <p:nvSpPr>
          <p:cNvPr id="186" name="文本框 8"/>
          <p:cNvSpPr/>
          <p:nvPr/>
        </p:nvSpPr>
        <p:spPr>
          <a:xfrm>
            <a:off x="2282760" y="2955960"/>
            <a:ext cx="2998080" cy="333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(a)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Start Point — Waypoint 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7" name="文本框 8"/>
          <p:cNvSpPr/>
          <p:nvPr/>
        </p:nvSpPr>
        <p:spPr>
          <a:xfrm>
            <a:off x="7219800" y="2955960"/>
            <a:ext cx="3146760" cy="333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(b)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Waypoint A — Waypoint B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8" name="文本框 8"/>
          <p:cNvSpPr/>
          <p:nvPr/>
        </p:nvSpPr>
        <p:spPr>
          <a:xfrm>
            <a:off x="7361640" y="5959440"/>
            <a:ext cx="2652120" cy="333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(d)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Waypoint C — End Point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9" name="文本框 8"/>
          <p:cNvSpPr/>
          <p:nvPr/>
        </p:nvSpPr>
        <p:spPr>
          <a:xfrm>
            <a:off x="2078280" y="5952960"/>
            <a:ext cx="3115080" cy="333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(c)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Waypoint B — Waypoint C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图片 3" descr="截图 2026-04-16 20-53-49"/>
          <p:cNvPicPr/>
          <p:nvPr/>
        </p:nvPicPr>
        <p:blipFill>
          <a:blip r:embed="rId1"/>
          <a:srcRect l="2665" t="9393" r="15325" b="10982"/>
          <a:stretch/>
        </p:blipFill>
        <p:spPr>
          <a:xfrm>
            <a:off x="254160" y="149400"/>
            <a:ext cx="2800080" cy="1526760"/>
          </a:xfrm>
          <a:prstGeom prst="rect">
            <a:avLst/>
          </a:prstGeom>
          <a:ln w="9525">
            <a:noFill/>
          </a:ln>
        </p:spPr>
      </p:pic>
      <p:pic>
        <p:nvPicPr>
          <p:cNvPr id="191" name="图片 7" descr="截图 2026-04-16 20-54-01"/>
          <p:cNvPicPr/>
          <p:nvPr/>
        </p:nvPicPr>
        <p:blipFill>
          <a:blip r:embed="rId2"/>
          <a:srcRect l="1917" t="8542" r="15417" b="10404"/>
          <a:stretch/>
        </p:blipFill>
        <p:spPr>
          <a:xfrm>
            <a:off x="3149640" y="147600"/>
            <a:ext cx="2800080" cy="1528560"/>
          </a:xfrm>
          <a:prstGeom prst="rect">
            <a:avLst/>
          </a:prstGeom>
          <a:ln w="9525">
            <a:noFill/>
          </a:ln>
        </p:spPr>
      </p:pic>
      <p:pic>
        <p:nvPicPr>
          <p:cNvPr id="192" name="图片 9" descr="截图 2026-04-16 20-54-09"/>
          <p:cNvPicPr/>
          <p:nvPr/>
        </p:nvPicPr>
        <p:blipFill>
          <a:blip r:embed="rId3"/>
          <a:srcRect l="2711" t="8532" r="14348" b="10957"/>
          <a:stretch/>
        </p:blipFill>
        <p:spPr>
          <a:xfrm>
            <a:off x="8940960" y="147600"/>
            <a:ext cx="2800080" cy="1528560"/>
          </a:xfrm>
          <a:prstGeom prst="rect">
            <a:avLst/>
          </a:prstGeom>
          <a:ln w="9525">
            <a:noFill/>
          </a:ln>
        </p:spPr>
      </p:pic>
      <p:pic>
        <p:nvPicPr>
          <p:cNvPr id="193" name="内容占位符 10" descr="截图 2026-04-16 20-54-25"/>
          <p:cNvPicPr/>
          <p:nvPr/>
        </p:nvPicPr>
        <p:blipFill>
          <a:blip r:embed="rId4"/>
          <a:srcRect l="2817" t="8689" r="15039" b="11395"/>
          <a:stretch/>
        </p:blipFill>
        <p:spPr>
          <a:xfrm>
            <a:off x="6045120" y="147600"/>
            <a:ext cx="2801520" cy="1528560"/>
          </a:xfrm>
          <a:prstGeom prst="rect">
            <a:avLst/>
          </a:prstGeom>
          <a:ln w="9525">
            <a:noFill/>
          </a:ln>
        </p:spPr>
      </p:pic>
      <p:pic>
        <p:nvPicPr>
          <p:cNvPr id="194" name="图片 12" descr="截图 2026-04-16 20-54-44"/>
          <p:cNvPicPr/>
          <p:nvPr/>
        </p:nvPicPr>
        <p:blipFill>
          <a:blip r:embed="rId5"/>
          <a:srcRect l="2665" t="9022" r="14187" b="10845"/>
          <a:stretch/>
        </p:blipFill>
        <p:spPr>
          <a:xfrm>
            <a:off x="254160" y="1809720"/>
            <a:ext cx="2800080" cy="1530000"/>
          </a:xfrm>
          <a:prstGeom prst="rect">
            <a:avLst/>
          </a:prstGeom>
          <a:ln w="9525">
            <a:noFill/>
          </a:ln>
        </p:spPr>
      </p:pic>
      <p:pic>
        <p:nvPicPr>
          <p:cNvPr id="195" name="图片 13" descr="截图 2026-04-16 20-54-59"/>
          <p:cNvPicPr/>
          <p:nvPr/>
        </p:nvPicPr>
        <p:blipFill>
          <a:blip r:embed="rId6"/>
          <a:srcRect l="2768" t="9081" r="14346" b="10859"/>
          <a:stretch/>
        </p:blipFill>
        <p:spPr>
          <a:xfrm>
            <a:off x="3149640" y="1809720"/>
            <a:ext cx="2804760" cy="1526760"/>
          </a:xfrm>
          <a:prstGeom prst="rect">
            <a:avLst/>
          </a:prstGeom>
          <a:ln w="9525">
            <a:noFill/>
          </a:ln>
        </p:spPr>
      </p:pic>
      <p:pic>
        <p:nvPicPr>
          <p:cNvPr id="196" name="图片 14" descr="截图 2026-04-16 20-55-10"/>
          <p:cNvPicPr/>
          <p:nvPr/>
        </p:nvPicPr>
        <p:blipFill>
          <a:blip r:embed="rId7"/>
          <a:srcRect l="2815" t="8661" r="14382" b="11132"/>
          <a:stretch/>
        </p:blipFill>
        <p:spPr>
          <a:xfrm>
            <a:off x="6045120" y="1809720"/>
            <a:ext cx="2801520" cy="1526760"/>
          </a:xfrm>
          <a:prstGeom prst="rect">
            <a:avLst/>
          </a:prstGeom>
          <a:ln w="9525">
            <a:noFill/>
          </a:ln>
        </p:spPr>
      </p:pic>
      <p:pic>
        <p:nvPicPr>
          <p:cNvPr id="197" name="图片 15" descr="截图 2026-04-16 20-55-26"/>
          <p:cNvPicPr/>
          <p:nvPr/>
        </p:nvPicPr>
        <p:blipFill>
          <a:blip r:embed="rId8"/>
          <a:srcRect l="2709" t="8717" r="14315" b="11090"/>
          <a:stretch/>
        </p:blipFill>
        <p:spPr>
          <a:xfrm>
            <a:off x="8937720" y="1809720"/>
            <a:ext cx="2806200" cy="152676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图片 1" descr="DWA-Height"/>
          <p:cNvPicPr/>
          <p:nvPr/>
        </p:nvPicPr>
        <p:blipFill>
          <a:blip r:embed="rId1"/>
          <a:stretch/>
        </p:blipFill>
        <p:spPr>
          <a:xfrm>
            <a:off x="5783400" y="142920"/>
            <a:ext cx="2606400" cy="2195280"/>
          </a:xfrm>
          <a:prstGeom prst="rect">
            <a:avLst/>
          </a:prstGeom>
          <a:ln w="9525">
            <a:noFill/>
          </a:ln>
        </p:spPr>
      </p:pic>
      <p:pic>
        <p:nvPicPr>
          <p:cNvPr id="199" name="图片 2" descr="guijitu"/>
          <p:cNvPicPr/>
          <p:nvPr/>
        </p:nvPicPr>
        <p:blipFill>
          <a:blip r:embed="rId2"/>
          <a:stretch/>
        </p:blipFill>
        <p:spPr>
          <a:xfrm>
            <a:off x="5783400" y="2552760"/>
            <a:ext cx="2606400" cy="2195280"/>
          </a:xfrm>
          <a:prstGeom prst="rect">
            <a:avLst/>
          </a:prstGeom>
          <a:ln w="9525">
            <a:noFill/>
          </a:ln>
        </p:spPr>
      </p:pic>
      <p:pic>
        <p:nvPicPr>
          <p:cNvPr id="200" name="图片 4" descr="guijitu"/>
          <p:cNvPicPr/>
          <p:nvPr/>
        </p:nvPicPr>
        <p:blipFill>
          <a:blip r:embed="rId3"/>
          <a:stretch/>
        </p:blipFill>
        <p:spPr>
          <a:xfrm>
            <a:off x="2973240" y="141120"/>
            <a:ext cx="2606400" cy="2196720"/>
          </a:xfrm>
          <a:prstGeom prst="rect">
            <a:avLst/>
          </a:prstGeom>
          <a:ln w="9525">
            <a:noFill/>
          </a:ln>
        </p:spPr>
      </p:pic>
      <p:pic>
        <p:nvPicPr>
          <p:cNvPr id="201" name="图片 5" descr="guijitu"/>
          <p:cNvPicPr/>
          <p:nvPr/>
        </p:nvPicPr>
        <p:blipFill>
          <a:blip r:embed="rId4"/>
          <a:stretch/>
        </p:blipFill>
        <p:spPr>
          <a:xfrm>
            <a:off x="2973240" y="2550960"/>
            <a:ext cx="2606400" cy="2196720"/>
          </a:xfrm>
          <a:prstGeom prst="rect">
            <a:avLst/>
          </a:prstGeom>
          <a:ln w="9525">
            <a:noFill/>
          </a:ln>
        </p:spPr>
      </p:pic>
      <p:pic>
        <p:nvPicPr>
          <p:cNvPr id="202" name="图片 7" descr="guijitu"/>
          <p:cNvPicPr/>
          <p:nvPr/>
        </p:nvPicPr>
        <p:blipFill>
          <a:blip r:embed="rId5"/>
          <a:stretch/>
        </p:blipFill>
        <p:spPr>
          <a:xfrm>
            <a:off x="163440" y="2550960"/>
            <a:ext cx="2606400" cy="2196720"/>
          </a:xfrm>
          <a:prstGeom prst="rect">
            <a:avLst/>
          </a:prstGeom>
          <a:ln w="9525">
            <a:noFill/>
          </a:ln>
        </p:spPr>
      </p:pic>
      <p:pic>
        <p:nvPicPr>
          <p:cNvPr id="203" name="图片 9" descr="guijitu"/>
          <p:cNvPicPr/>
          <p:nvPr/>
        </p:nvPicPr>
        <p:blipFill>
          <a:blip r:embed="rId6"/>
          <a:stretch/>
        </p:blipFill>
        <p:spPr>
          <a:xfrm>
            <a:off x="163440" y="141120"/>
            <a:ext cx="2606400" cy="2196720"/>
          </a:xfrm>
          <a:prstGeom prst="rect">
            <a:avLst/>
          </a:prstGeom>
          <a:ln w="9525">
            <a:noFill/>
          </a:ln>
        </p:spPr>
      </p:pic>
      <p:sp>
        <p:nvSpPr>
          <p:cNvPr id="204" name="文本框 2"/>
          <p:cNvSpPr/>
          <p:nvPr/>
        </p:nvSpPr>
        <p:spPr>
          <a:xfrm>
            <a:off x="1335240" y="224316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5" name="文本框 2"/>
          <p:cNvSpPr/>
          <p:nvPr/>
        </p:nvSpPr>
        <p:spPr>
          <a:xfrm>
            <a:off x="7005600" y="224316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(c)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6" name="文本框 2"/>
          <p:cNvSpPr/>
          <p:nvPr/>
        </p:nvSpPr>
        <p:spPr>
          <a:xfrm>
            <a:off x="4211640" y="224316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(b)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7" name="文本框 2"/>
          <p:cNvSpPr/>
          <p:nvPr/>
        </p:nvSpPr>
        <p:spPr>
          <a:xfrm>
            <a:off x="1309680" y="465120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8" name="文本框 2"/>
          <p:cNvSpPr/>
          <p:nvPr/>
        </p:nvSpPr>
        <p:spPr>
          <a:xfrm>
            <a:off x="6980400" y="465120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(c)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9" name="文本框 2"/>
          <p:cNvSpPr/>
          <p:nvPr/>
        </p:nvSpPr>
        <p:spPr>
          <a:xfrm>
            <a:off x="4186080" y="465120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(b)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图片 3" descr="guijitu"/>
          <p:cNvPicPr/>
          <p:nvPr/>
        </p:nvPicPr>
        <p:blipFill>
          <a:blip r:embed="rId1"/>
          <a:stretch/>
        </p:blipFill>
        <p:spPr>
          <a:xfrm>
            <a:off x="6392880" y="3151080"/>
            <a:ext cx="2606400" cy="2196720"/>
          </a:xfrm>
          <a:prstGeom prst="rect">
            <a:avLst/>
          </a:prstGeom>
          <a:ln w="9525">
            <a:noFill/>
          </a:ln>
        </p:spPr>
      </p:pic>
      <p:pic>
        <p:nvPicPr>
          <p:cNvPr id="211" name="图片 6" descr="guijitu"/>
          <p:cNvPicPr/>
          <p:nvPr/>
        </p:nvPicPr>
        <p:blipFill>
          <a:blip r:embed="rId2"/>
          <a:stretch/>
        </p:blipFill>
        <p:spPr>
          <a:xfrm>
            <a:off x="3583080" y="3151080"/>
            <a:ext cx="2606400" cy="2196720"/>
          </a:xfrm>
          <a:prstGeom prst="rect">
            <a:avLst/>
          </a:prstGeom>
          <a:ln w="9525">
            <a:noFill/>
          </a:ln>
        </p:spPr>
      </p:pic>
      <p:pic>
        <p:nvPicPr>
          <p:cNvPr id="212" name="图片 10" descr="guijitu"/>
          <p:cNvPicPr/>
          <p:nvPr/>
        </p:nvPicPr>
        <p:blipFill>
          <a:blip r:embed="rId3"/>
          <a:stretch/>
        </p:blipFill>
        <p:spPr>
          <a:xfrm>
            <a:off x="771480" y="3151080"/>
            <a:ext cx="2606400" cy="2195280"/>
          </a:xfrm>
          <a:prstGeom prst="rect">
            <a:avLst/>
          </a:prstGeom>
          <a:ln w="9525">
            <a:noFill/>
          </a:ln>
        </p:spPr>
      </p:pic>
      <p:pic>
        <p:nvPicPr>
          <p:cNvPr id="213" name="图片 2" descr="guijitu"/>
          <p:cNvPicPr/>
          <p:nvPr/>
        </p:nvPicPr>
        <p:blipFill>
          <a:blip r:embed="rId4"/>
          <a:stretch/>
        </p:blipFill>
        <p:spPr>
          <a:xfrm>
            <a:off x="6392880" y="369720"/>
            <a:ext cx="2606400" cy="2195280"/>
          </a:xfrm>
          <a:prstGeom prst="rect">
            <a:avLst/>
          </a:prstGeom>
          <a:ln w="9525">
            <a:noFill/>
          </a:ln>
        </p:spPr>
      </p:pic>
      <p:pic>
        <p:nvPicPr>
          <p:cNvPr id="214" name="图片 5" descr="guijitu"/>
          <p:cNvPicPr/>
          <p:nvPr/>
        </p:nvPicPr>
        <p:blipFill>
          <a:blip r:embed="rId5"/>
          <a:stretch/>
        </p:blipFill>
        <p:spPr>
          <a:xfrm>
            <a:off x="3583080" y="368280"/>
            <a:ext cx="2606400" cy="2196720"/>
          </a:xfrm>
          <a:prstGeom prst="rect">
            <a:avLst/>
          </a:prstGeom>
          <a:ln w="9525">
            <a:noFill/>
          </a:ln>
        </p:spPr>
      </p:pic>
      <p:pic>
        <p:nvPicPr>
          <p:cNvPr id="215" name="图片 7" descr="guijitu"/>
          <p:cNvPicPr/>
          <p:nvPr/>
        </p:nvPicPr>
        <p:blipFill>
          <a:blip r:embed="rId6"/>
          <a:stretch/>
        </p:blipFill>
        <p:spPr>
          <a:xfrm>
            <a:off x="771480" y="368280"/>
            <a:ext cx="2606400" cy="2196720"/>
          </a:xfrm>
          <a:prstGeom prst="rect">
            <a:avLst/>
          </a:prstGeom>
          <a:ln w="9525">
            <a:noFill/>
          </a:ln>
        </p:spPr>
      </p:pic>
      <p:sp>
        <p:nvSpPr>
          <p:cNvPr id="216" name="文本框 2"/>
          <p:cNvSpPr/>
          <p:nvPr/>
        </p:nvSpPr>
        <p:spPr>
          <a:xfrm>
            <a:off x="1919160" y="247032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7" name="文本框 2"/>
          <p:cNvSpPr/>
          <p:nvPr/>
        </p:nvSpPr>
        <p:spPr>
          <a:xfrm>
            <a:off x="7589880" y="247032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(c)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8" name="文本框 2"/>
          <p:cNvSpPr/>
          <p:nvPr/>
        </p:nvSpPr>
        <p:spPr>
          <a:xfrm>
            <a:off x="4794120" y="247032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(b)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9" name="文本框 2"/>
          <p:cNvSpPr/>
          <p:nvPr/>
        </p:nvSpPr>
        <p:spPr>
          <a:xfrm>
            <a:off x="1882800" y="525924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0" name="文本框 2"/>
          <p:cNvSpPr/>
          <p:nvPr/>
        </p:nvSpPr>
        <p:spPr>
          <a:xfrm>
            <a:off x="7553160" y="525924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(c)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1" name="文本框 2"/>
          <p:cNvSpPr/>
          <p:nvPr/>
        </p:nvSpPr>
        <p:spPr>
          <a:xfrm>
            <a:off x="4757760" y="5259240"/>
            <a:ext cx="450360" cy="3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(b)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861</Words>
  <Paragraphs>131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2026-06-24T15:44:35Z</dcterms:created>
  <dc:creator>seven</dc:creator>
  <dc:description/>
  <dc:language>en-US</dc:language>
  <cp:lastModifiedBy/>
  <dcterms:modified xsi:type="dcterms:W3CDTF">2026-09-27T19:50:22Z</dcterms:modified>
  <cp:revision>167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8CDF911E8B90DA15AABB3B6AC9FE1DF1_43</vt:lpwstr>
  </property>
  <property fmtid="{D5CDD505-2E9C-101B-9397-08002B2CF9AE}" pid="3" name="KSOProductBuildVer">
    <vt:lpwstr>2052-12.1.2.23578</vt:lpwstr>
  </property>
  <property fmtid="{D5CDD505-2E9C-101B-9397-08002B2CF9AE}" pid="4" name="PresentationFormat">
    <vt:lpwstr>宽屏</vt:lpwstr>
  </property>
  <property fmtid="{D5CDD505-2E9C-101B-9397-08002B2CF9AE}" pid="5" name="Slides">
    <vt:i4>9</vt:i4>
  </property>
</Properties>
</file>