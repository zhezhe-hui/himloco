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4A9520-F346-40E1-981F-D871AA5270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E31E4C-34C0-4723-9100-54EF74A95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1BBD6F-C4DD-4761-813A-8985D931BC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9251F4-0900-4059-BAE8-C27F0B1056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43B020-120F-45C6-822E-FE41335E02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694570-E5C2-497F-9A85-9178860EA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DEC853-3EB9-4489-ADC1-C16F22D038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105471-726C-4405-8B70-ACA469EA86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E855D5-B8A5-4624-BF1B-152752B488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CEBFB3-642A-42E1-A95F-24D682977B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D88F57-D28B-4F5B-89BB-1D5039A483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8D8AA7-F978-4AB3-A799-4F079C3AE9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01DD10-80A1-4B3C-B462-4BFBF76B1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C11340-0C39-4A58-A028-8B87ADBC02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30C47F-A818-4486-9574-5476EE8947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7E2598-A361-4B9B-BDB1-DF30F68ACD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FD91BE-D6F2-475E-9F6C-4AC2258075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BD55AF-9494-4D0D-B410-656CB1B44D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979D2A-0058-4AB3-B569-F3507E4FDB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72E6C2-27B1-45F0-A148-D78DD0EB36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26D419A-41D7-4A45-94DB-9360711647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6CA83A-4125-435D-BBFB-4C18999346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5D4137-CB63-48A3-8218-BFE12555D7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78BF2C-B488-433E-8CE8-F383F50088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B2056C-D492-4223-B4E8-BCBCBB266B73}" type="slidenum">
              <a:rPr b="0" lang="en-US" sz="1400" spc="-1" strike="noStrike">
                <a:latin typeface="Times New Roman"/>
              </a:rPr>
              <a:t>3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17C3B9-6691-4BFF-BEA0-A5062DEB801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24000" y="129600"/>
            <a:ext cx="11519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实验方案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24000" y="432000"/>
            <a:ext cx="11519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围绕底层控制、局部视觉规划、仿真验证和实物部署开展分层实验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0000" y="648000"/>
            <a:ext cx="11112120" cy="360"/>
          </a:xfrm>
          <a:prstGeom prst="line">
            <a:avLst/>
          </a:prstGeom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"/>
          <p:cNvSpPr/>
          <p:nvPr/>
        </p:nvSpPr>
        <p:spPr>
          <a:xfrm>
            <a:off x="324000" y="7920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"/>
          <p:cNvSpPr/>
          <p:nvPr/>
        </p:nvSpPr>
        <p:spPr>
          <a:xfrm>
            <a:off x="475200" y="17388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1.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底层运动控制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808000" y="1117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策略训练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808000" y="1791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RAM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跟踪对比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808000" y="24642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统一导航速度接口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2167200" y="20340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"/>
          <p:cNvSpPr/>
          <p:nvPr/>
        </p:nvSpPr>
        <p:spPr>
          <a:xfrm>
            <a:off x="2520000" y="13608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"/>
          <p:cNvSpPr/>
          <p:nvPr/>
        </p:nvSpPr>
        <p:spPr>
          <a:xfrm>
            <a:off x="2520000" y="1360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"/>
          <p:cNvSpPr/>
          <p:nvPr/>
        </p:nvSpPr>
        <p:spPr>
          <a:xfrm>
            <a:off x="2520000" y="2034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"/>
          <p:cNvSpPr/>
          <p:nvPr/>
        </p:nvSpPr>
        <p:spPr>
          <a:xfrm>
            <a:off x="2520000" y="27072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"/>
          <p:cNvSpPr/>
          <p:nvPr/>
        </p:nvSpPr>
        <p:spPr>
          <a:xfrm>
            <a:off x="4156200" y="1616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4156200" y="22896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6342120" y="7920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6493320" y="17388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2.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局部感知与规划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826120" y="1117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D435i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深度恢复点云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826120" y="1791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局部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BEV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与双层代价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826120" y="24642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FMM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引导足迹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MPPI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8185320" y="20340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8538120" y="13608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8538120" y="1360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8538120" y="2034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8538120" y="27072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10174320" y="1616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10174320" y="22896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>
            <a:off x="6342120" y="36108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493320" y="45576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3.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仿真实验验证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8826120" y="39366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三档离散高度场景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826120" y="4609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30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个固定种子消融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826120" y="5283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噪声与外部对比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185320" y="48528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8538120" y="41796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8538120" y="41796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8538120" y="4852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>
            <a:off x="8538120" y="5526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"/>
          <p:cNvSpPr/>
          <p:nvPr/>
        </p:nvSpPr>
        <p:spPr>
          <a:xfrm>
            <a:off x="10174320" y="44352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"/>
          <p:cNvSpPr/>
          <p:nvPr/>
        </p:nvSpPr>
        <p:spPr>
          <a:xfrm>
            <a:off x="10174320" y="5108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324000" y="36108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475200" y="45576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4.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实物系统部署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808000" y="39366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Go2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D435i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标定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2808000" y="4609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ROS2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数据链路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808000" y="5283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野外混合地形验证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167200" y="48528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2520000" y="41796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2520000" y="41796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2520000" y="4852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2520000" y="5526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4156200" y="44352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4156200" y="5108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5893200" y="1922400"/>
            <a:ext cx="405360" cy="222840"/>
          </a:xfrm>
          <a:custGeom>
            <a:avLst/>
            <a:gdLst/>
            <a:ahLst/>
            <a:rect l="l" t="t" r="r" b="b"/>
            <a:pathLst>
              <a:path w="1127" h="620">
                <a:moveTo>
                  <a:pt x="0" y="220"/>
                </a:moveTo>
                <a:lnTo>
                  <a:pt x="607" y="220"/>
                </a:lnTo>
                <a:lnTo>
                  <a:pt x="607" y="0"/>
                </a:lnTo>
                <a:lnTo>
                  <a:pt x="1127" y="310"/>
                </a:lnTo>
                <a:lnTo>
                  <a:pt x="607" y="620"/>
                </a:lnTo>
                <a:lnTo>
                  <a:pt x="607" y="400"/>
                </a:lnTo>
                <a:lnTo>
                  <a:pt x="0" y="400"/>
                </a:lnTo>
                <a:lnTo>
                  <a:pt x="0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8993520" y="3308400"/>
            <a:ext cx="222840" cy="269640"/>
          </a:xfrm>
          <a:custGeom>
            <a:avLst/>
            <a:gdLst/>
            <a:ahLst/>
            <a:rect l="l" t="t" r="r" b="b"/>
            <a:pathLst>
              <a:path w="620" h="750">
                <a:moveTo>
                  <a:pt x="220" y="0"/>
                </a:moveTo>
                <a:lnTo>
                  <a:pt x="400" y="0"/>
                </a:lnTo>
                <a:lnTo>
                  <a:pt x="400" y="230"/>
                </a:lnTo>
                <a:lnTo>
                  <a:pt x="620" y="230"/>
                </a:lnTo>
                <a:lnTo>
                  <a:pt x="310" y="750"/>
                </a:lnTo>
                <a:lnTo>
                  <a:pt x="0" y="230"/>
                </a:lnTo>
                <a:lnTo>
                  <a:pt x="220" y="230"/>
                </a:lnTo>
                <a:lnTo>
                  <a:pt x="22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5893200" y="4741200"/>
            <a:ext cx="405360" cy="222840"/>
          </a:xfrm>
          <a:custGeom>
            <a:avLst/>
            <a:gdLst/>
            <a:ahLst/>
            <a:rect l="l" t="t" r="r" b="b"/>
            <a:pathLst>
              <a:path w="1127" h="620">
                <a:moveTo>
                  <a:pt x="1127" y="220"/>
                </a:moveTo>
                <a:lnTo>
                  <a:pt x="520" y="220"/>
                </a:lnTo>
                <a:lnTo>
                  <a:pt x="520" y="0"/>
                </a:lnTo>
                <a:lnTo>
                  <a:pt x="0" y="310"/>
                </a:lnTo>
                <a:lnTo>
                  <a:pt x="520" y="620"/>
                </a:lnTo>
                <a:lnTo>
                  <a:pt x="520" y="400"/>
                </a:lnTo>
                <a:lnTo>
                  <a:pt x="1127" y="400"/>
                </a:lnTo>
                <a:lnTo>
                  <a:pt x="1127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432000" y="6624000"/>
            <a:ext cx="11303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平台：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Unitree Go2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、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Intel RealSense D435i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、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Isaac Gym    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正式实验：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750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轮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324000" y="129600"/>
            <a:ext cx="11519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zh-CN" sz="28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技术路线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24000" y="432000"/>
            <a:ext cx="11519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深度视觉建立局部几何代价，</a:t>
            </a:r>
            <a:r>
              <a:rPr b="0" lang="en-US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FMM</a:t>
            </a: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提供走廊引导，足迹</a:t>
            </a:r>
            <a:r>
              <a:rPr b="0" lang="en-US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MPPI</a:t>
            </a: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生成平滑速度指令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40000" y="648000"/>
            <a:ext cx="11112120" cy="360"/>
          </a:xfrm>
          <a:prstGeom prst="line">
            <a:avLst/>
          </a:prstGeom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324000" y="7920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475200" y="17388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1.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运动控制准备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2808000" y="1117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训练并部署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808000" y="1791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验证速度跟踪精度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808000" y="24642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固定底层控制策略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167200" y="20340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"/>
          <p:cNvSpPr/>
          <p:nvPr/>
        </p:nvSpPr>
        <p:spPr>
          <a:xfrm>
            <a:off x="2520000" y="13608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"/>
          <p:cNvSpPr/>
          <p:nvPr/>
        </p:nvSpPr>
        <p:spPr>
          <a:xfrm>
            <a:off x="2520000" y="1360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2520000" y="2034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2520000" y="27072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4156200" y="1616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4156200" y="22896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"/>
          <p:cNvSpPr/>
          <p:nvPr/>
        </p:nvSpPr>
        <p:spPr>
          <a:xfrm>
            <a:off x="6342120" y="7920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"/>
          <p:cNvSpPr/>
          <p:nvPr/>
        </p:nvSpPr>
        <p:spPr>
          <a:xfrm>
            <a:off x="6493320" y="17388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2.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视觉几何建图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826120" y="1117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深度图恢复局部点云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826120" y="1791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地面过滤与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BEV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栅格化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826120" y="24642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构建硬碰撞层和软代价层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8185320" y="20340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"/>
          <p:cNvSpPr/>
          <p:nvPr/>
        </p:nvSpPr>
        <p:spPr>
          <a:xfrm>
            <a:off x="8538120" y="13608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"/>
          <p:cNvSpPr/>
          <p:nvPr/>
        </p:nvSpPr>
        <p:spPr>
          <a:xfrm>
            <a:off x="8538120" y="1360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"/>
          <p:cNvSpPr/>
          <p:nvPr/>
        </p:nvSpPr>
        <p:spPr>
          <a:xfrm>
            <a:off x="8538120" y="2034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"/>
          <p:cNvSpPr/>
          <p:nvPr/>
        </p:nvSpPr>
        <p:spPr>
          <a:xfrm>
            <a:off x="8538120" y="27072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"/>
          <p:cNvSpPr/>
          <p:nvPr/>
        </p:nvSpPr>
        <p:spPr>
          <a:xfrm>
            <a:off x="10174320" y="1616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"/>
          <p:cNvSpPr/>
          <p:nvPr/>
        </p:nvSpPr>
        <p:spPr>
          <a:xfrm>
            <a:off x="10174320" y="22896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"/>
          <p:cNvSpPr/>
          <p:nvPr/>
        </p:nvSpPr>
        <p:spPr>
          <a:xfrm>
            <a:off x="6342120" y="36108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"/>
          <p:cNvSpPr/>
          <p:nvPr/>
        </p:nvSpPr>
        <p:spPr>
          <a:xfrm>
            <a:off x="6493320" y="45576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3.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局部运动规划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826120" y="39366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FMM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生成参考走廊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826120" y="4609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足迹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MPPI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采样与评价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826120" y="5283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输出线速度和角速度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8185320" y="48528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"/>
          <p:cNvSpPr/>
          <p:nvPr/>
        </p:nvSpPr>
        <p:spPr>
          <a:xfrm>
            <a:off x="8538120" y="41796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"/>
          <p:cNvSpPr/>
          <p:nvPr/>
        </p:nvSpPr>
        <p:spPr>
          <a:xfrm>
            <a:off x="8538120" y="41796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"/>
          <p:cNvSpPr/>
          <p:nvPr/>
        </p:nvSpPr>
        <p:spPr>
          <a:xfrm>
            <a:off x="8538120" y="4852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"/>
          <p:cNvSpPr/>
          <p:nvPr/>
        </p:nvSpPr>
        <p:spPr>
          <a:xfrm>
            <a:off x="8538120" y="5526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"/>
          <p:cNvSpPr/>
          <p:nvPr/>
        </p:nvSpPr>
        <p:spPr>
          <a:xfrm>
            <a:off x="10174320" y="44352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"/>
          <p:cNvSpPr/>
          <p:nvPr/>
        </p:nvSpPr>
        <p:spPr>
          <a:xfrm>
            <a:off x="10174320" y="5108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"/>
          <p:cNvSpPr/>
          <p:nvPr/>
        </p:nvSpPr>
        <p:spPr>
          <a:xfrm>
            <a:off x="324000" y="3610800"/>
            <a:ext cx="5525640" cy="248364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"/>
          <p:cNvSpPr/>
          <p:nvPr/>
        </p:nvSpPr>
        <p:spPr>
          <a:xfrm>
            <a:off x="475200" y="4557600"/>
            <a:ext cx="1691640" cy="590040"/>
          </a:xfrm>
          <a:prstGeom prst="roundRect">
            <a:avLst>
              <a:gd name="adj" fmla="val 16667"/>
            </a:avLst>
          </a:prstGeom>
          <a:solidFill>
            <a:srgbClr val="bdd7ee"/>
          </a:solidFill>
          <a:ln w="0">
            <a:solidFill>
              <a:srgbClr val="bdd7ee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4.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验证与能力扩展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808000" y="39366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三档场景和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噪声实验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2808000" y="46098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iPlanner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等方法对比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808000" y="5283000"/>
            <a:ext cx="2789640" cy="485640"/>
          </a:xfrm>
          <a:prstGeom prst="roundRect">
            <a:avLst>
              <a:gd name="adj" fmla="val 16667"/>
            </a:avLst>
          </a:prstGeom>
          <a:solidFill>
            <a:srgbClr val="c6e0b4"/>
          </a:solidFill>
          <a:ln w="0">
            <a:solidFill>
              <a:srgbClr val="c6e0b4"/>
            </a:solidFill>
          </a:ln>
        </p:spPr>
        <p:style>
          <a:lnRef idx="0"/>
          <a:fillRef idx="0"/>
          <a:effectRef idx="0"/>
          <a:fontRef idx="minor"/>
        </p:style>
        <p:txBody>
          <a:bodyPr lIns="61200" rIns="61200" tIns="28800" bIns="288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视觉可通行性与实物部署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2167200" y="4852800"/>
            <a:ext cx="3528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"/>
          <p:cNvSpPr/>
          <p:nvPr/>
        </p:nvSpPr>
        <p:spPr>
          <a:xfrm>
            <a:off x="2520000" y="4179600"/>
            <a:ext cx="36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"/>
          <p:cNvSpPr/>
          <p:nvPr/>
        </p:nvSpPr>
        <p:spPr>
          <a:xfrm>
            <a:off x="2520000" y="41796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"/>
          <p:cNvSpPr/>
          <p:nvPr/>
        </p:nvSpPr>
        <p:spPr>
          <a:xfrm>
            <a:off x="2520000" y="48528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"/>
          <p:cNvSpPr/>
          <p:nvPr/>
        </p:nvSpPr>
        <p:spPr>
          <a:xfrm>
            <a:off x="2520000" y="5526000"/>
            <a:ext cx="288000" cy="36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"/>
          <p:cNvSpPr/>
          <p:nvPr/>
        </p:nvSpPr>
        <p:spPr>
          <a:xfrm>
            <a:off x="4156200" y="44352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"/>
          <p:cNvSpPr/>
          <p:nvPr/>
        </p:nvSpPr>
        <p:spPr>
          <a:xfrm>
            <a:off x="4156200" y="5108400"/>
            <a:ext cx="93240" cy="161640"/>
          </a:xfrm>
          <a:custGeom>
            <a:avLst/>
            <a:gdLst/>
            <a:ahLst/>
            <a:rect l="l" t="t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"/>
          <p:cNvSpPr/>
          <p:nvPr/>
        </p:nvSpPr>
        <p:spPr>
          <a:xfrm>
            <a:off x="5893200" y="1922400"/>
            <a:ext cx="405360" cy="222840"/>
          </a:xfrm>
          <a:custGeom>
            <a:avLst/>
            <a:gdLst/>
            <a:ahLst/>
            <a:rect l="l" t="t" r="r" b="b"/>
            <a:pathLst>
              <a:path w="1127" h="620">
                <a:moveTo>
                  <a:pt x="0" y="220"/>
                </a:moveTo>
                <a:lnTo>
                  <a:pt x="607" y="220"/>
                </a:lnTo>
                <a:lnTo>
                  <a:pt x="607" y="0"/>
                </a:lnTo>
                <a:lnTo>
                  <a:pt x="1127" y="310"/>
                </a:lnTo>
                <a:lnTo>
                  <a:pt x="607" y="620"/>
                </a:lnTo>
                <a:lnTo>
                  <a:pt x="607" y="400"/>
                </a:lnTo>
                <a:lnTo>
                  <a:pt x="0" y="400"/>
                </a:lnTo>
                <a:lnTo>
                  <a:pt x="0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"/>
          <p:cNvSpPr/>
          <p:nvPr/>
        </p:nvSpPr>
        <p:spPr>
          <a:xfrm>
            <a:off x="8993520" y="3308400"/>
            <a:ext cx="222840" cy="269640"/>
          </a:xfrm>
          <a:custGeom>
            <a:avLst/>
            <a:gdLst/>
            <a:ahLst/>
            <a:rect l="l" t="t" r="r" b="b"/>
            <a:pathLst>
              <a:path w="620" h="750">
                <a:moveTo>
                  <a:pt x="220" y="0"/>
                </a:moveTo>
                <a:lnTo>
                  <a:pt x="400" y="0"/>
                </a:lnTo>
                <a:lnTo>
                  <a:pt x="400" y="230"/>
                </a:lnTo>
                <a:lnTo>
                  <a:pt x="620" y="230"/>
                </a:lnTo>
                <a:lnTo>
                  <a:pt x="310" y="750"/>
                </a:lnTo>
                <a:lnTo>
                  <a:pt x="0" y="230"/>
                </a:lnTo>
                <a:lnTo>
                  <a:pt x="220" y="230"/>
                </a:lnTo>
                <a:lnTo>
                  <a:pt x="22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"/>
          <p:cNvSpPr/>
          <p:nvPr/>
        </p:nvSpPr>
        <p:spPr>
          <a:xfrm>
            <a:off x="5893200" y="4741200"/>
            <a:ext cx="405360" cy="222840"/>
          </a:xfrm>
          <a:custGeom>
            <a:avLst/>
            <a:gdLst/>
            <a:ahLst/>
            <a:rect l="l" t="t" r="r" b="b"/>
            <a:pathLst>
              <a:path w="1127" h="620">
                <a:moveTo>
                  <a:pt x="1127" y="220"/>
                </a:moveTo>
                <a:lnTo>
                  <a:pt x="520" y="220"/>
                </a:lnTo>
                <a:lnTo>
                  <a:pt x="520" y="0"/>
                </a:lnTo>
                <a:lnTo>
                  <a:pt x="0" y="310"/>
                </a:lnTo>
                <a:lnTo>
                  <a:pt x="520" y="620"/>
                </a:lnTo>
                <a:lnTo>
                  <a:pt x="520" y="400"/>
                </a:lnTo>
                <a:lnTo>
                  <a:pt x="1127" y="400"/>
                </a:lnTo>
                <a:lnTo>
                  <a:pt x="1127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"/>
          <p:cNvSpPr/>
          <p:nvPr/>
        </p:nvSpPr>
        <p:spPr>
          <a:xfrm>
            <a:off x="432000" y="6624000"/>
            <a:ext cx="11303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第三章：几何规划    第四章：视觉可通行性    第五章：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Go2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实物系统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 txBox="1"/>
          <p:nvPr/>
        </p:nvSpPr>
        <p:spPr>
          <a:xfrm>
            <a:off x="324000" y="113040"/>
            <a:ext cx="1154412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分层视觉导航与运动控制总体框架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24000" y="401040"/>
            <a:ext cx="1154412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50" spc="-1" strike="noStrike">
                <a:solidFill>
                  <a:srgbClr val="536878"/>
                </a:solidFill>
                <a:latin typeface="Times New Roman"/>
                <a:ea typeface="Microsoft YaHei"/>
              </a:rPr>
              <a:t>第三章已完成系统与实验评估流程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08000" y="792000"/>
            <a:ext cx="2484000" cy="2394000"/>
          </a:xfrm>
          <a:prstGeom prst="roundRect">
            <a:avLst/>
          </a:prstGeom>
          <a:solidFill>
            <a:srgbClr val="ffffff"/>
          </a:solidFill>
          <a:ln w="12240">
            <a:solidFill>
              <a:srgbClr val="17365d"/>
            </a:solidFill>
            <a:custDash>
              <a:ds d="647059" sp="352941"/>
            </a:custDash>
            <a:round/>
          </a:ln>
        </p:spPr>
      </p:sp>
      <p:sp>
        <p:nvSpPr>
          <p:cNvPr id="197" name=""/>
          <p:cNvSpPr txBox="1"/>
          <p:nvPr/>
        </p:nvSpPr>
        <p:spPr>
          <a:xfrm>
            <a:off x="194400" y="843840"/>
            <a:ext cx="23112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感知与任务输入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2736000" y="792000"/>
            <a:ext cx="5976000" cy="2394000"/>
          </a:xfrm>
          <a:prstGeom prst="roundRect">
            <a:avLst/>
          </a:prstGeom>
          <a:solidFill>
            <a:srgbClr val="fce4d6"/>
          </a:solidFill>
          <a:ln w="12240">
            <a:solidFill>
              <a:srgbClr val="17365d"/>
            </a:solidFill>
            <a:round/>
          </a:ln>
        </p:spPr>
      </p:sp>
      <p:sp>
        <p:nvSpPr>
          <p:cNvPr id="199" name=""/>
          <p:cNvSpPr txBox="1"/>
          <p:nvPr/>
        </p:nvSpPr>
        <p:spPr>
          <a:xfrm>
            <a:off x="2822400" y="843840"/>
            <a:ext cx="58032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局部感知与运动规划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08000" y="3636000"/>
            <a:ext cx="2484000" cy="2484000"/>
          </a:xfrm>
          <a:prstGeom prst="roundRect">
            <a:avLst/>
          </a:prstGeom>
          <a:solidFill>
            <a:srgbClr val="ffffff"/>
          </a:solidFill>
          <a:ln w="12240">
            <a:solidFill>
              <a:srgbClr val="17365d"/>
            </a:solidFill>
            <a:custDash>
              <a:ds d="647059" sp="352941"/>
            </a:custDash>
            <a:round/>
          </a:ln>
        </p:spPr>
      </p:sp>
      <p:sp>
        <p:nvSpPr>
          <p:cNvPr id="201" name=""/>
          <p:cNvSpPr txBox="1"/>
          <p:nvPr/>
        </p:nvSpPr>
        <p:spPr>
          <a:xfrm>
            <a:off x="194400" y="3687840"/>
            <a:ext cx="23112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运动控制输入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2736000" y="3636000"/>
            <a:ext cx="5976000" cy="2484000"/>
          </a:xfrm>
          <a:prstGeom prst="roundRect">
            <a:avLst/>
          </a:prstGeom>
          <a:solidFill>
            <a:srgbClr val="d9e2f3"/>
          </a:solidFill>
          <a:ln w="12240">
            <a:solidFill>
              <a:srgbClr val="17365d"/>
            </a:solidFill>
            <a:round/>
          </a:ln>
        </p:spPr>
      </p:sp>
      <p:sp>
        <p:nvSpPr>
          <p:cNvPr id="203" name=""/>
          <p:cNvSpPr txBox="1"/>
          <p:nvPr/>
        </p:nvSpPr>
        <p:spPr>
          <a:xfrm>
            <a:off x="2822400" y="3687840"/>
            <a:ext cx="58032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HIMLoco</a:t>
            </a:r>
            <a:r>
              <a:rPr b="1" lang="zh-CN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强化学习运动控制器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8892000" y="792000"/>
            <a:ext cx="3186000" cy="5328000"/>
          </a:xfrm>
          <a:prstGeom prst="roundRect">
            <a:avLst/>
          </a:prstGeom>
          <a:solidFill>
            <a:srgbClr val="e2f0d9"/>
          </a:solidFill>
          <a:ln w="12240">
            <a:solidFill>
              <a:srgbClr val="17365d"/>
            </a:solidFill>
            <a:round/>
          </a:ln>
        </p:spPr>
      </p:sp>
      <p:sp>
        <p:nvSpPr>
          <p:cNvPr id="205" name=""/>
          <p:cNvSpPr txBox="1"/>
          <p:nvPr/>
        </p:nvSpPr>
        <p:spPr>
          <a:xfrm>
            <a:off x="8978400" y="843840"/>
            <a:ext cx="30132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已完成实验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259200" y="1116000"/>
            <a:ext cx="1029600" cy="5796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1404000" y="1116000"/>
            <a:ext cx="1029600" cy="5796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sp>
        <p:nvSpPr>
          <p:cNvPr id="208" name=""/>
          <p:cNvSpPr txBox="1"/>
          <p:nvPr/>
        </p:nvSpPr>
        <p:spPr>
          <a:xfrm>
            <a:off x="259200" y="1681200"/>
            <a:ext cx="1029600" cy="70524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D435i</a:t>
            </a:r>
            <a:r>
              <a:rPr b="1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彩色图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404000" y="1681200"/>
            <a:ext cx="1029600" cy="70524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D435i</a:t>
            </a:r>
            <a:r>
              <a:rPr b="1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深度图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78000" y="1908000"/>
            <a:ext cx="1944000" cy="450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VIO</a:t>
            </a:r>
            <a:r>
              <a:rPr b="0" lang="zh-CN" sz="12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位姿</a:t>
            </a:r>
            <a:endParaRPr b="0" lang="en-US" sz="1250" spc="-1" strike="noStrike">
              <a:latin typeface="Arial"/>
            </a:endParaRPr>
          </a:p>
          <a:p>
            <a:pPr algn="ctr">
              <a:buNone/>
            </a:pPr>
            <a:r>
              <a:rPr b="0" lang="zh-CN" sz="12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（理想或含噪）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78000" y="2520000"/>
            <a:ext cx="1944000" cy="378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局部目标点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2988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RGB-D</a:t>
            </a: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点云投影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生成局部</a:t>
            </a: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BEV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932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局部</a:t>
            </a: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BEV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高度图与障碍图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876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双层代价地图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硬碰撞层与软安全代价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2988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FMM</a:t>
            </a: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参考走廊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932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足迹</a:t>
            </a: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MPPI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轨迹优化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876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速度指令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(vx, wz)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4428000" y="131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19" name=""/>
          <p:cNvSpPr/>
          <p:nvPr/>
        </p:nvSpPr>
        <p:spPr>
          <a:xfrm>
            <a:off x="6372000" y="131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20" name=""/>
          <p:cNvSpPr/>
          <p:nvPr/>
        </p:nvSpPr>
        <p:spPr>
          <a:xfrm>
            <a:off x="7596000" y="1656000"/>
            <a:ext cx="0" cy="360000"/>
          </a:xfrm>
          <a:prstGeom prst="line">
            <a:avLst/>
          </a:prstGeom>
          <a:ln w="1008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"/>
          <p:cNvSpPr/>
          <p:nvPr/>
        </p:nvSpPr>
        <p:spPr>
          <a:xfrm>
            <a:off x="3708000" y="2016000"/>
            <a:ext cx="3888000" cy="0"/>
          </a:xfrm>
          <a:prstGeom prst="line">
            <a:avLst/>
          </a:prstGeom>
          <a:ln w="1008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"/>
          <p:cNvSpPr/>
          <p:nvPr/>
        </p:nvSpPr>
        <p:spPr>
          <a:xfrm>
            <a:off x="3645000" y="2016000"/>
            <a:ext cx="126000" cy="252000"/>
          </a:xfrm>
          <a:custGeom>
            <a:avLst/>
            <a:gdLst/>
            <a:ahLst/>
            <a:rect l="0" t="0" r="r" b="b"/>
            <a:pathLst>
              <a:path w="350" h="700">
                <a:moveTo>
                  <a:pt x="130" y="0"/>
                </a:moveTo>
                <a:lnTo>
                  <a:pt x="220" y="0"/>
                </a:lnTo>
                <a:lnTo>
                  <a:pt x="220" y="380"/>
                </a:lnTo>
                <a:lnTo>
                  <a:pt x="350" y="380"/>
                </a:lnTo>
                <a:lnTo>
                  <a:pt x="175" y="700"/>
                </a:lnTo>
                <a:lnTo>
                  <a:pt x="0" y="380"/>
                </a:lnTo>
                <a:lnTo>
                  <a:pt x="130" y="380"/>
                </a:lnTo>
                <a:lnTo>
                  <a:pt x="130" y="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23" name=""/>
          <p:cNvSpPr/>
          <p:nvPr/>
        </p:nvSpPr>
        <p:spPr>
          <a:xfrm>
            <a:off x="4428000" y="248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24" name=""/>
          <p:cNvSpPr/>
          <p:nvPr/>
        </p:nvSpPr>
        <p:spPr>
          <a:xfrm>
            <a:off x="6372000" y="248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25" name=""/>
          <p:cNvSpPr/>
          <p:nvPr/>
        </p:nvSpPr>
        <p:spPr>
          <a:xfrm>
            <a:off x="378000" y="392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期望机身速度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78000" y="455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本体感知状态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78000" y="518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历史观测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3024000" y="4428000"/>
            <a:ext cx="1296000" cy="612000"/>
          </a:xfrm>
          <a:prstGeom prst="roundRect">
            <a:avLst/>
          </a:prstGeom>
          <a:solidFill>
            <a:srgbClr val="b4c6e7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状态与历史观测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编码器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860000" y="4248000"/>
            <a:ext cx="1728000" cy="954000"/>
          </a:xfrm>
          <a:prstGeom prst="roundRect">
            <a:avLst/>
          </a:prstGeom>
          <a:solidFill>
            <a:srgbClr val="b4c6e7"/>
          </a:solidFill>
          <a:ln w="1224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HIMLoco</a:t>
            </a:r>
            <a:endParaRPr b="0" lang="en-US" sz="1800" spc="-1" strike="noStrike">
              <a:latin typeface="Arial"/>
            </a:endParaRPr>
          </a:p>
          <a:p>
            <a:pPr algn="ctr">
              <a:buNone/>
            </a:pPr>
            <a:r>
              <a:rPr b="1" lang="zh-CN" sz="18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策略网络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128000" y="4428000"/>
            <a:ext cx="1296000" cy="612000"/>
          </a:xfrm>
          <a:prstGeom prst="roundRect">
            <a:avLst/>
          </a:prstGeom>
          <a:solidFill>
            <a:srgbClr val="b4c6e7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关节位置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zh-CN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目标值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320000" y="4658400"/>
            <a:ext cx="540000" cy="151200"/>
          </a:xfrm>
          <a:custGeom>
            <a:avLst/>
            <a:gdLst/>
            <a:ahLst/>
            <a:rect l="0" t="0" r="r" b="b"/>
            <a:pathLst>
              <a:path w="1500" h="420">
                <a:moveTo>
                  <a:pt x="0" y="150"/>
                </a:moveTo>
                <a:lnTo>
                  <a:pt x="1120" y="150"/>
                </a:lnTo>
                <a:lnTo>
                  <a:pt x="1120" y="0"/>
                </a:lnTo>
                <a:lnTo>
                  <a:pt x="1500" y="210"/>
                </a:lnTo>
                <a:lnTo>
                  <a:pt x="1120" y="420"/>
                </a:lnTo>
                <a:lnTo>
                  <a:pt x="11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32" name=""/>
          <p:cNvSpPr/>
          <p:nvPr/>
        </p:nvSpPr>
        <p:spPr>
          <a:xfrm>
            <a:off x="6588000" y="4658400"/>
            <a:ext cx="540000" cy="151200"/>
          </a:xfrm>
          <a:custGeom>
            <a:avLst/>
            <a:gdLst/>
            <a:ahLst/>
            <a:rect l="0" t="0" r="r" b="b"/>
            <a:pathLst>
              <a:path w="1500" h="420">
                <a:moveTo>
                  <a:pt x="0" y="150"/>
                </a:moveTo>
                <a:lnTo>
                  <a:pt x="1120" y="150"/>
                </a:lnTo>
                <a:lnTo>
                  <a:pt x="1120" y="0"/>
                </a:lnTo>
                <a:lnTo>
                  <a:pt x="1500" y="210"/>
                </a:lnTo>
                <a:lnTo>
                  <a:pt x="1120" y="420"/>
                </a:lnTo>
                <a:lnTo>
                  <a:pt x="11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33" name=""/>
          <p:cNvSpPr txBox="1"/>
          <p:nvPr/>
        </p:nvSpPr>
        <p:spPr>
          <a:xfrm>
            <a:off x="3031200" y="5315040"/>
            <a:ext cx="5364000" cy="3744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300" spc="-1" strike="noStrike">
                <a:solidFill>
                  <a:srgbClr val="536878"/>
                </a:solidFill>
                <a:latin typeface="Times New Roman"/>
                <a:ea typeface="Microsoft YaHei"/>
              </a:rPr>
              <a:t>所有导航规划方法共用同一底层运动控制策略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2516400" y="1904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31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310" y="335"/>
                </a:lnTo>
                <a:lnTo>
                  <a:pt x="31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35" name=""/>
          <p:cNvSpPr/>
          <p:nvPr/>
        </p:nvSpPr>
        <p:spPr>
          <a:xfrm>
            <a:off x="7502400" y="3222000"/>
            <a:ext cx="187200" cy="990000"/>
          </a:xfrm>
          <a:custGeom>
            <a:avLst/>
            <a:gdLst/>
            <a:ahLst/>
            <a:rect l="0" t="0" r="r" b="b"/>
            <a:pathLst>
              <a:path w="520" h="2750">
                <a:moveTo>
                  <a:pt x="185" y="0"/>
                </a:moveTo>
                <a:lnTo>
                  <a:pt x="335" y="0"/>
                </a:lnTo>
                <a:lnTo>
                  <a:pt x="335" y="2290"/>
                </a:lnTo>
                <a:lnTo>
                  <a:pt x="520" y="2290"/>
                </a:lnTo>
                <a:lnTo>
                  <a:pt x="260" y="2750"/>
                </a:lnTo>
                <a:lnTo>
                  <a:pt x="0" y="2290"/>
                </a:lnTo>
                <a:lnTo>
                  <a:pt x="185" y="2290"/>
                </a:lnTo>
                <a:lnTo>
                  <a:pt x="185" y="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236" name=""/>
          <p:cNvSpPr/>
          <p:nvPr/>
        </p:nvSpPr>
        <p:spPr>
          <a:xfrm>
            <a:off x="2516400" y="4676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31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310" y="335"/>
                </a:lnTo>
                <a:lnTo>
                  <a:pt x="31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pic>
        <p:nvPicPr>
          <p:cNvPr id="237" name="" descr=""/>
          <p:cNvPicPr/>
          <p:nvPr/>
        </p:nvPicPr>
        <p:blipFill>
          <a:blip r:embed="rId3"/>
          <a:stretch/>
        </p:blipFill>
        <p:spPr>
          <a:xfrm>
            <a:off x="9036000" y="1116000"/>
            <a:ext cx="2898000" cy="7380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sp>
        <p:nvSpPr>
          <p:cNvPr id="238" name=""/>
          <p:cNvSpPr/>
          <p:nvPr/>
        </p:nvSpPr>
        <p:spPr>
          <a:xfrm>
            <a:off x="9144000" y="1962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简单、中等、困难三档场景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每种方法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30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个固定随机种子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9144000" y="2646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内部消融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固定膨胀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FMM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、双层代价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FMM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、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足迹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MPPI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9144000" y="3330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外部方法对比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iPlanner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、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PS-DWA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、</a:t>
            </a: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SAPF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9144000" y="4014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VIO</a:t>
            </a: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鲁棒性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理想、轻度、中度、重度噪声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9144000" y="4698000"/>
            <a:ext cx="2682000" cy="558000"/>
          </a:xfrm>
          <a:prstGeom prst="roundRect">
            <a:avLst/>
          </a:prstGeom>
          <a:solidFill>
            <a:srgbClr val="a9d18e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共完成</a:t>
            </a: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750</a:t>
            </a:r>
            <a:r>
              <a:rPr b="1" lang="zh-CN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轮正式闭环实验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8668800" y="4640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24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240" y="335"/>
                </a:lnTo>
                <a:lnTo>
                  <a:pt x="24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2026-09-27T20:16:05Z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